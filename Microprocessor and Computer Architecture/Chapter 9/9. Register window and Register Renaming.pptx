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78" r:id="rId2"/>
    <p:sldId id="279" r:id="rId3"/>
    <p:sldId id="280" r:id="rId4"/>
    <p:sldId id="281" r:id="rId5"/>
    <p:sldId id="289" r:id="rId6"/>
    <p:sldId id="282" r:id="rId7"/>
    <p:sldId id="283" r:id="rId8"/>
    <p:sldId id="284" r:id="rId9"/>
    <p:sldId id="290" r:id="rId10"/>
    <p:sldId id="285" r:id="rId11"/>
    <p:sldId id="287" r:id="rId12"/>
    <p:sldId id="286" r:id="rId13"/>
    <p:sldId id="288" r:id="rId14"/>
    <p:sldId id="291" r:id="rId15"/>
    <p:sldId id="292" r:id="rId16"/>
    <p:sldId id="293" r:id="rId17"/>
    <p:sldId id="29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695" autoAdjust="0"/>
    <p:restoredTop sz="96327"/>
  </p:normalViewPr>
  <p:slideViewPr>
    <p:cSldViewPr snapToGrid="0">
      <p:cViewPr>
        <p:scale>
          <a:sx n="57" d="100"/>
          <a:sy n="57" d="100"/>
        </p:scale>
        <p:origin x="1324" y="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64C0A20-BD45-214A-903F-2328F2AE36A2}" type="datetimeFigureOut">
              <a:rPr lang="en-NP" smtClean="0"/>
              <a:t>07/23/2026</a:t>
            </a:fld>
            <a:endParaRPr lang="en-NP"/>
          </a:p>
        </p:txBody>
      </p:sp>
      <p:sp>
        <p:nvSpPr>
          <p:cNvPr id="5" name="Footer Placeholder 4"/>
          <p:cNvSpPr>
            <a:spLocks noGrp="1"/>
          </p:cNvSpPr>
          <p:nvPr>
            <p:ph type="ftr" sz="quarter" idx="11"/>
          </p:nvPr>
        </p:nvSpPr>
        <p:spPr/>
        <p:txBody>
          <a:bodyPr/>
          <a:lstStyle/>
          <a:p>
            <a:endParaRPr lang="en-NP"/>
          </a:p>
        </p:txBody>
      </p:sp>
      <p:sp>
        <p:nvSpPr>
          <p:cNvPr id="6" name="Slide Number Placeholder 5"/>
          <p:cNvSpPr>
            <a:spLocks noGrp="1"/>
          </p:cNvSpPr>
          <p:nvPr>
            <p:ph type="sldNum" sz="quarter" idx="12"/>
          </p:nvPr>
        </p:nvSpPr>
        <p:spPr/>
        <p:txBody>
          <a:bodyPr rIns="45720"/>
          <a:lstStyle/>
          <a:p>
            <a:fld id="{1257FECD-12CD-F241-9A51-EDEF65FC5386}" type="slidenum">
              <a:rPr lang="en-NP" smtClean="0"/>
              <a:t>‹#›</a:t>
            </a:fld>
            <a:endParaRPr lang="en-NP"/>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09900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4C0A20-BD45-214A-903F-2328F2AE36A2}" type="datetimeFigureOut">
              <a:rPr lang="en-NP" smtClean="0"/>
              <a:t>07/23/2026</a:t>
            </a:fld>
            <a:endParaRPr lang="en-NP"/>
          </a:p>
        </p:txBody>
      </p:sp>
      <p:sp>
        <p:nvSpPr>
          <p:cNvPr id="5" name="Footer Placeholder 4"/>
          <p:cNvSpPr>
            <a:spLocks noGrp="1"/>
          </p:cNvSpPr>
          <p:nvPr>
            <p:ph type="ftr" sz="quarter" idx="11"/>
          </p:nvPr>
        </p:nvSpPr>
        <p:spPr/>
        <p:txBody>
          <a:bodyPr/>
          <a:lstStyle/>
          <a:p>
            <a:endParaRPr lang="en-NP"/>
          </a:p>
        </p:txBody>
      </p:sp>
      <p:sp>
        <p:nvSpPr>
          <p:cNvPr id="6" name="Slide Number Placeholder 5"/>
          <p:cNvSpPr>
            <a:spLocks noGrp="1"/>
          </p:cNvSpPr>
          <p:nvPr>
            <p:ph type="sldNum" sz="quarter" idx="12"/>
          </p:nvPr>
        </p:nvSpPr>
        <p:spPr/>
        <p:txBody>
          <a:bodyPr/>
          <a:lstStyle/>
          <a:p>
            <a:fld id="{1257FECD-12CD-F241-9A51-EDEF65FC5386}" type="slidenum">
              <a:rPr lang="en-NP" smtClean="0"/>
              <a:t>‹#›</a:t>
            </a:fld>
            <a:endParaRPr lang="en-NP"/>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960416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4C0A20-BD45-214A-903F-2328F2AE36A2}" type="datetimeFigureOut">
              <a:rPr lang="en-NP" smtClean="0"/>
              <a:t>07/23/2026</a:t>
            </a:fld>
            <a:endParaRPr lang="en-NP"/>
          </a:p>
        </p:txBody>
      </p:sp>
      <p:sp>
        <p:nvSpPr>
          <p:cNvPr id="5" name="Footer Placeholder 4"/>
          <p:cNvSpPr>
            <a:spLocks noGrp="1"/>
          </p:cNvSpPr>
          <p:nvPr>
            <p:ph type="ftr" sz="quarter" idx="11"/>
          </p:nvPr>
        </p:nvSpPr>
        <p:spPr/>
        <p:txBody>
          <a:bodyPr/>
          <a:lstStyle/>
          <a:p>
            <a:endParaRPr lang="en-NP"/>
          </a:p>
        </p:txBody>
      </p:sp>
      <p:sp>
        <p:nvSpPr>
          <p:cNvPr id="6" name="Slide Number Placeholder 5"/>
          <p:cNvSpPr>
            <a:spLocks noGrp="1"/>
          </p:cNvSpPr>
          <p:nvPr>
            <p:ph type="sldNum" sz="quarter" idx="12"/>
          </p:nvPr>
        </p:nvSpPr>
        <p:spPr/>
        <p:txBody>
          <a:bodyPr/>
          <a:lstStyle/>
          <a:p>
            <a:fld id="{1257FECD-12CD-F241-9A51-EDEF65FC5386}" type="slidenum">
              <a:rPr lang="en-NP" smtClean="0"/>
              <a:t>‹#›</a:t>
            </a:fld>
            <a:endParaRPr lang="en-NP"/>
          </a:p>
        </p:txBody>
      </p:sp>
    </p:spTree>
    <p:extLst>
      <p:ext uri="{BB962C8B-B14F-4D97-AF65-F5344CB8AC3E}">
        <p14:creationId xmlns:p14="http://schemas.microsoft.com/office/powerpoint/2010/main" val="2807426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64C0A20-BD45-214A-903F-2328F2AE36A2}" type="datetimeFigureOut">
              <a:rPr lang="en-NP" smtClean="0"/>
              <a:t>07/23/2026</a:t>
            </a:fld>
            <a:endParaRPr lang="en-NP"/>
          </a:p>
        </p:txBody>
      </p:sp>
      <p:sp>
        <p:nvSpPr>
          <p:cNvPr id="6" name="Footer Placeholder 5"/>
          <p:cNvSpPr>
            <a:spLocks noGrp="1"/>
          </p:cNvSpPr>
          <p:nvPr>
            <p:ph type="ftr" sz="quarter" idx="11"/>
          </p:nvPr>
        </p:nvSpPr>
        <p:spPr/>
        <p:txBody>
          <a:bodyPr/>
          <a:lstStyle/>
          <a:p>
            <a:endParaRPr lang="en-NP"/>
          </a:p>
        </p:txBody>
      </p:sp>
      <p:sp>
        <p:nvSpPr>
          <p:cNvPr id="7" name="Slide Number Placeholder 6"/>
          <p:cNvSpPr>
            <a:spLocks noGrp="1"/>
          </p:cNvSpPr>
          <p:nvPr>
            <p:ph type="sldNum" sz="quarter" idx="12"/>
          </p:nvPr>
        </p:nvSpPr>
        <p:spPr/>
        <p:txBody>
          <a:bodyPr/>
          <a:lstStyle/>
          <a:p>
            <a:fld id="{1257FECD-12CD-F241-9A51-EDEF65FC5386}" type="slidenum">
              <a:rPr lang="en-NP" smtClean="0"/>
              <a:t>‹#›</a:t>
            </a:fld>
            <a:endParaRPr lang="en-NP"/>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303907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64C0A20-BD45-214A-903F-2328F2AE36A2}" type="datetimeFigureOut">
              <a:rPr lang="en-NP" smtClean="0"/>
              <a:t>07/23/2026</a:t>
            </a:fld>
            <a:endParaRPr lang="en-NP"/>
          </a:p>
        </p:txBody>
      </p:sp>
      <p:sp>
        <p:nvSpPr>
          <p:cNvPr id="8" name="Footer Placeholder 7"/>
          <p:cNvSpPr>
            <a:spLocks noGrp="1"/>
          </p:cNvSpPr>
          <p:nvPr>
            <p:ph type="ftr" sz="quarter" idx="11"/>
          </p:nvPr>
        </p:nvSpPr>
        <p:spPr/>
        <p:txBody>
          <a:bodyPr/>
          <a:lstStyle/>
          <a:p>
            <a:endParaRPr lang="en-NP"/>
          </a:p>
        </p:txBody>
      </p:sp>
      <p:sp>
        <p:nvSpPr>
          <p:cNvPr id="9" name="Slide Number Placeholder 8"/>
          <p:cNvSpPr>
            <a:spLocks noGrp="1"/>
          </p:cNvSpPr>
          <p:nvPr>
            <p:ph type="sldNum" sz="quarter" idx="12"/>
          </p:nvPr>
        </p:nvSpPr>
        <p:spPr/>
        <p:txBody>
          <a:bodyPr/>
          <a:lstStyle/>
          <a:p>
            <a:fld id="{1257FECD-12CD-F241-9A51-EDEF65FC5386}" type="slidenum">
              <a:rPr lang="en-NP" smtClean="0"/>
              <a:t>‹#›</a:t>
            </a:fld>
            <a:endParaRPr lang="en-NP"/>
          </a:p>
        </p:txBody>
      </p:sp>
    </p:spTree>
    <p:extLst>
      <p:ext uri="{BB962C8B-B14F-4D97-AF65-F5344CB8AC3E}">
        <p14:creationId xmlns:p14="http://schemas.microsoft.com/office/powerpoint/2010/main" val="1396596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64C0A20-BD45-214A-903F-2328F2AE36A2}" type="datetimeFigureOut">
              <a:rPr lang="en-NP" smtClean="0"/>
              <a:t>07/23/2026</a:t>
            </a:fld>
            <a:endParaRPr lang="en-NP"/>
          </a:p>
        </p:txBody>
      </p:sp>
      <p:sp>
        <p:nvSpPr>
          <p:cNvPr id="4" name="Footer Placeholder 3"/>
          <p:cNvSpPr>
            <a:spLocks noGrp="1"/>
          </p:cNvSpPr>
          <p:nvPr>
            <p:ph type="ftr" sz="quarter" idx="11"/>
          </p:nvPr>
        </p:nvSpPr>
        <p:spPr/>
        <p:txBody>
          <a:bodyPr/>
          <a:lstStyle/>
          <a:p>
            <a:endParaRPr lang="en-NP"/>
          </a:p>
        </p:txBody>
      </p:sp>
      <p:sp>
        <p:nvSpPr>
          <p:cNvPr id="5" name="Slide Number Placeholder 4"/>
          <p:cNvSpPr>
            <a:spLocks noGrp="1"/>
          </p:cNvSpPr>
          <p:nvPr>
            <p:ph type="sldNum" sz="quarter" idx="12"/>
          </p:nvPr>
        </p:nvSpPr>
        <p:spPr/>
        <p:txBody>
          <a:bodyPr/>
          <a:lstStyle/>
          <a:p>
            <a:fld id="{1257FECD-12CD-F241-9A51-EDEF65FC5386}" type="slidenum">
              <a:rPr lang="en-NP" smtClean="0"/>
              <a:t>‹#›</a:t>
            </a:fld>
            <a:endParaRPr lang="en-NP"/>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571582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F64C0A20-BD45-214A-903F-2328F2AE36A2}" type="datetimeFigureOut">
              <a:rPr lang="en-NP" smtClean="0"/>
              <a:t>07/23/2026</a:t>
            </a:fld>
            <a:endParaRPr lang="en-NP"/>
          </a:p>
        </p:txBody>
      </p:sp>
      <p:sp>
        <p:nvSpPr>
          <p:cNvPr id="3" name="Footer Placeholder 2"/>
          <p:cNvSpPr>
            <a:spLocks noGrp="1"/>
          </p:cNvSpPr>
          <p:nvPr>
            <p:ph type="ftr" sz="quarter" idx="11"/>
          </p:nvPr>
        </p:nvSpPr>
        <p:spPr/>
        <p:txBody>
          <a:bodyPr/>
          <a:lstStyle/>
          <a:p>
            <a:endParaRPr lang="en-NP"/>
          </a:p>
        </p:txBody>
      </p:sp>
      <p:sp>
        <p:nvSpPr>
          <p:cNvPr id="4" name="Slide Number Placeholder 3"/>
          <p:cNvSpPr>
            <a:spLocks noGrp="1"/>
          </p:cNvSpPr>
          <p:nvPr>
            <p:ph type="sldNum" sz="quarter" idx="12"/>
          </p:nvPr>
        </p:nvSpPr>
        <p:spPr/>
        <p:txBody>
          <a:bodyPr/>
          <a:lstStyle/>
          <a:p>
            <a:fld id="{1257FECD-12CD-F241-9A51-EDEF65FC5386}" type="slidenum">
              <a:rPr lang="en-NP" smtClean="0"/>
              <a:t>‹#›</a:t>
            </a:fld>
            <a:endParaRPr lang="en-NP"/>
          </a:p>
        </p:txBody>
      </p:sp>
    </p:spTree>
    <p:extLst>
      <p:ext uri="{BB962C8B-B14F-4D97-AF65-F5344CB8AC3E}">
        <p14:creationId xmlns:p14="http://schemas.microsoft.com/office/powerpoint/2010/main" val="338314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4C0A20-BD45-214A-903F-2328F2AE36A2}" type="datetimeFigureOut">
              <a:rPr lang="en-NP" smtClean="0"/>
              <a:t>07/23/2026</a:t>
            </a:fld>
            <a:endParaRPr lang="en-NP"/>
          </a:p>
        </p:txBody>
      </p:sp>
      <p:sp>
        <p:nvSpPr>
          <p:cNvPr id="6" name="Footer Placeholder 5"/>
          <p:cNvSpPr>
            <a:spLocks noGrp="1"/>
          </p:cNvSpPr>
          <p:nvPr>
            <p:ph type="ftr" sz="quarter" idx="11"/>
          </p:nvPr>
        </p:nvSpPr>
        <p:spPr/>
        <p:txBody>
          <a:bodyPr/>
          <a:lstStyle/>
          <a:p>
            <a:endParaRPr lang="en-NP"/>
          </a:p>
        </p:txBody>
      </p:sp>
      <p:sp>
        <p:nvSpPr>
          <p:cNvPr id="7" name="Slide Number Placeholder 6"/>
          <p:cNvSpPr>
            <a:spLocks noGrp="1"/>
          </p:cNvSpPr>
          <p:nvPr>
            <p:ph type="sldNum" sz="quarter" idx="12"/>
          </p:nvPr>
        </p:nvSpPr>
        <p:spPr/>
        <p:txBody>
          <a:bodyPr/>
          <a:lstStyle/>
          <a:p>
            <a:fld id="{1257FECD-12CD-F241-9A51-EDEF65FC5386}" type="slidenum">
              <a:rPr lang="en-NP" smtClean="0"/>
              <a:t>‹#›</a:t>
            </a:fld>
            <a:endParaRPr lang="en-NP"/>
          </a:p>
        </p:txBody>
      </p:sp>
    </p:spTree>
    <p:extLst>
      <p:ext uri="{BB962C8B-B14F-4D97-AF65-F5344CB8AC3E}">
        <p14:creationId xmlns:p14="http://schemas.microsoft.com/office/powerpoint/2010/main" val="393791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4C0A20-BD45-214A-903F-2328F2AE36A2}" type="datetimeFigureOut">
              <a:rPr lang="en-NP" smtClean="0"/>
              <a:t>07/23/2026</a:t>
            </a:fld>
            <a:endParaRPr lang="en-NP"/>
          </a:p>
        </p:txBody>
      </p:sp>
      <p:sp>
        <p:nvSpPr>
          <p:cNvPr id="6" name="Footer Placeholder 5"/>
          <p:cNvSpPr>
            <a:spLocks noGrp="1"/>
          </p:cNvSpPr>
          <p:nvPr>
            <p:ph type="ftr" sz="quarter" idx="11"/>
          </p:nvPr>
        </p:nvSpPr>
        <p:spPr/>
        <p:txBody>
          <a:bodyPr/>
          <a:lstStyle/>
          <a:p>
            <a:endParaRPr lang="en-NP"/>
          </a:p>
        </p:txBody>
      </p:sp>
      <p:sp>
        <p:nvSpPr>
          <p:cNvPr id="7" name="Slide Number Placeholder 6"/>
          <p:cNvSpPr>
            <a:spLocks noGrp="1"/>
          </p:cNvSpPr>
          <p:nvPr>
            <p:ph type="sldNum" sz="quarter" idx="12"/>
          </p:nvPr>
        </p:nvSpPr>
        <p:spPr/>
        <p:txBody>
          <a:bodyPr/>
          <a:lstStyle/>
          <a:p>
            <a:fld id="{1257FECD-12CD-F241-9A51-EDEF65FC5386}" type="slidenum">
              <a:rPr lang="en-NP" smtClean="0"/>
              <a:t>‹#›</a:t>
            </a:fld>
            <a:endParaRPr lang="en-NP"/>
          </a:p>
        </p:txBody>
      </p:sp>
    </p:spTree>
    <p:extLst>
      <p:ext uri="{BB962C8B-B14F-4D97-AF65-F5344CB8AC3E}">
        <p14:creationId xmlns:p14="http://schemas.microsoft.com/office/powerpoint/2010/main" val="3898050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4C0A20-BD45-214A-903F-2328F2AE36A2}" type="datetimeFigureOut">
              <a:rPr lang="en-NP" smtClean="0"/>
              <a:t>07/23/2026</a:t>
            </a:fld>
            <a:endParaRPr lang="en-NP"/>
          </a:p>
        </p:txBody>
      </p:sp>
      <p:sp>
        <p:nvSpPr>
          <p:cNvPr id="5" name="Footer Placeholder 4"/>
          <p:cNvSpPr>
            <a:spLocks noGrp="1"/>
          </p:cNvSpPr>
          <p:nvPr>
            <p:ph type="ftr" sz="quarter" idx="11"/>
          </p:nvPr>
        </p:nvSpPr>
        <p:spPr/>
        <p:txBody>
          <a:bodyPr/>
          <a:lstStyle/>
          <a:p>
            <a:endParaRPr lang="en-NP"/>
          </a:p>
        </p:txBody>
      </p:sp>
      <p:sp>
        <p:nvSpPr>
          <p:cNvPr id="6" name="Slide Number Placeholder 5"/>
          <p:cNvSpPr>
            <a:spLocks noGrp="1"/>
          </p:cNvSpPr>
          <p:nvPr>
            <p:ph type="sldNum" sz="quarter" idx="12"/>
          </p:nvPr>
        </p:nvSpPr>
        <p:spPr/>
        <p:txBody>
          <a:bodyPr/>
          <a:lstStyle/>
          <a:p>
            <a:fld id="{1257FECD-12CD-F241-9A51-EDEF65FC5386}" type="slidenum">
              <a:rPr lang="en-NP" smtClean="0"/>
              <a:t>‹#›</a:t>
            </a:fld>
            <a:endParaRPr lang="en-NP"/>
          </a:p>
        </p:txBody>
      </p:sp>
    </p:spTree>
    <p:extLst>
      <p:ext uri="{BB962C8B-B14F-4D97-AF65-F5344CB8AC3E}">
        <p14:creationId xmlns:p14="http://schemas.microsoft.com/office/powerpoint/2010/main" val="17223867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4C0A20-BD45-214A-903F-2328F2AE36A2}" type="datetimeFigureOut">
              <a:rPr lang="en-NP" smtClean="0"/>
              <a:t>07/23/2026</a:t>
            </a:fld>
            <a:endParaRPr lang="en-NP"/>
          </a:p>
        </p:txBody>
      </p:sp>
      <p:sp>
        <p:nvSpPr>
          <p:cNvPr id="5" name="Footer Placeholder 4"/>
          <p:cNvSpPr>
            <a:spLocks noGrp="1"/>
          </p:cNvSpPr>
          <p:nvPr>
            <p:ph type="ftr" sz="quarter" idx="11"/>
          </p:nvPr>
        </p:nvSpPr>
        <p:spPr/>
        <p:txBody>
          <a:bodyPr/>
          <a:lstStyle/>
          <a:p>
            <a:endParaRPr lang="en-NP"/>
          </a:p>
        </p:txBody>
      </p:sp>
      <p:sp>
        <p:nvSpPr>
          <p:cNvPr id="6" name="Slide Number Placeholder 5"/>
          <p:cNvSpPr>
            <a:spLocks noGrp="1"/>
          </p:cNvSpPr>
          <p:nvPr>
            <p:ph type="sldNum" sz="quarter" idx="12"/>
          </p:nvPr>
        </p:nvSpPr>
        <p:spPr/>
        <p:txBody>
          <a:bodyPr/>
          <a:lstStyle/>
          <a:p>
            <a:fld id="{1257FECD-12CD-F241-9A51-EDEF65FC5386}" type="slidenum">
              <a:rPr lang="en-NP" smtClean="0"/>
              <a:t>‹#›</a:t>
            </a:fld>
            <a:endParaRPr lang="en-NP"/>
          </a:p>
        </p:txBody>
      </p:sp>
    </p:spTree>
    <p:extLst>
      <p:ext uri="{BB962C8B-B14F-4D97-AF65-F5344CB8AC3E}">
        <p14:creationId xmlns:p14="http://schemas.microsoft.com/office/powerpoint/2010/main" val="3438832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F64C0A20-BD45-214A-903F-2328F2AE36A2}" type="datetimeFigureOut">
              <a:rPr lang="en-NP" smtClean="0"/>
              <a:t>07/23/2026</a:t>
            </a:fld>
            <a:endParaRPr lang="en-NP"/>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n-NP"/>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1257FECD-12CD-F241-9A51-EDEF65FC5386}" type="slidenum">
              <a:rPr lang="en-NP" smtClean="0"/>
              <a:t>‹#›</a:t>
            </a:fld>
            <a:endParaRPr lang="en-NP"/>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5504873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EE77B8B6-0553-A4BC-503E-97224A4A3FCB}"/>
              </a:ext>
            </a:extLst>
          </p:cNvPr>
          <p:cNvSpPr>
            <a:spLocks noGrp="1" noRot="1" noChangeArrowheads="1"/>
          </p:cNvSpPr>
          <p:nvPr>
            <p:ph type="title"/>
          </p:nvPr>
        </p:nvSpPr>
        <p:spPr/>
        <p:txBody>
          <a:bodyPr/>
          <a:lstStyle/>
          <a:p>
            <a:pPr algn="ctr" eaLnBrk="1" hangingPunct="1"/>
            <a:r>
              <a:rPr lang="en-US" altLang="en-NP" b="0" dirty="0">
                <a:effectLst/>
                <a:latin typeface="Verdana" panose="020B0604030504040204" pitchFamily="34" charset="0"/>
              </a:rPr>
              <a:t>Register Windowing and Renaming</a:t>
            </a:r>
          </a:p>
        </p:txBody>
      </p:sp>
      <p:sp>
        <p:nvSpPr>
          <p:cNvPr id="70659" name="Rectangle 3">
            <a:extLst>
              <a:ext uri="{FF2B5EF4-FFF2-40B4-BE49-F238E27FC236}">
                <a16:creationId xmlns:a16="http://schemas.microsoft.com/office/drawing/2014/main" id="{80643167-B5FE-75B4-F8DF-BD10259C67A9}"/>
              </a:ext>
            </a:extLst>
          </p:cNvPr>
          <p:cNvSpPr>
            <a:spLocks noGrp="1" noRot="1" noChangeArrowheads="1"/>
          </p:cNvSpPr>
          <p:nvPr>
            <p:ph idx="1"/>
          </p:nvPr>
        </p:nvSpPr>
        <p:spPr/>
        <p:txBody>
          <a:bodyPr/>
          <a:lstStyle/>
          <a:p>
            <a:pPr eaLnBrk="1" hangingPunct="1">
              <a:lnSpc>
                <a:spcPct val="80000"/>
              </a:lnSpc>
            </a:pPr>
            <a:r>
              <a:rPr lang="en-US" altLang="en-NP" dirty="0"/>
              <a:t>The reduced hardware requirements of RISC processors leave additional space available on the chip for the system designer. RISC CPUs generally use this space to include a large number of registers ( &gt; 100 occasionally). </a:t>
            </a:r>
          </a:p>
          <a:p>
            <a:pPr eaLnBrk="1" hangingPunct="1">
              <a:lnSpc>
                <a:spcPct val="80000"/>
              </a:lnSpc>
            </a:pPr>
            <a:r>
              <a:rPr lang="en-US" altLang="en-NP" dirty="0"/>
              <a:t>The CPU can access data in registers more quickly than data in memory so having more registers makes more data available faster. Having more registers also helps reduce the number of memory references especially when calling and returning from subroutines.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anim calcmode="lin" valueType="num">
                                      <p:cBhvr additive="base">
                                        <p:cTn id="7" dur="500" fill="hold"/>
                                        <p:tgtEl>
                                          <p:spTgt spid="706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06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0659">
                                            <p:txEl>
                                              <p:pRg st="1" end="1"/>
                                            </p:txEl>
                                          </p:spTgt>
                                        </p:tgtEl>
                                        <p:attrNameLst>
                                          <p:attrName>style.visibility</p:attrName>
                                        </p:attrNameLst>
                                      </p:cBhvr>
                                      <p:to>
                                        <p:strVal val="visible"/>
                                      </p:to>
                                    </p:set>
                                    <p:anim calcmode="lin" valueType="num">
                                      <p:cBhvr additive="base">
                                        <p:cTn id="13" dur="500" fill="hold"/>
                                        <p:tgtEl>
                                          <p:spTgt spid="706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065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67B63F77-BFF6-A392-5BF3-EEB5B02C85D8}"/>
              </a:ext>
            </a:extLst>
          </p:cNvPr>
          <p:cNvSpPr>
            <a:spLocks noGrp="1" noRot="1" noChangeArrowheads="1"/>
          </p:cNvSpPr>
          <p:nvPr>
            <p:ph type="title"/>
          </p:nvPr>
        </p:nvSpPr>
        <p:spPr/>
        <p:txBody>
          <a:bodyPr/>
          <a:lstStyle/>
          <a:p>
            <a:pPr algn="ctr" eaLnBrk="1" hangingPunct="1"/>
            <a:r>
              <a:rPr lang="en-US" altLang="en-NP" b="0">
                <a:effectLst/>
                <a:latin typeface="Verdana" panose="020B0604030504040204" pitchFamily="34" charset="0"/>
              </a:rPr>
              <a:t>Register Windowing and Renaming</a:t>
            </a:r>
          </a:p>
        </p:txBody>
      </p:sp>
      <p:sp>
        <p:nvSpPr>
          <p:cNvPr id="71683" name="Rectangle 3">
            <a:extLst>
              <a:ext uri="{FF2B5EF4-FFF2-40B4-BE49-F238E27FC236}">
                <a16:creationId xmlns:a16="http://schemas.microsoft.com/office/drawing/2014/main" id="{9526E123-A743-2DD2-B71B-1540D73E64F3}"/>
              </a:ext>
            </a:extLst>
          </p:cNvPr>
          <p:cNvSpPr>
            <a:spLocks noGrp="1" noRot="1" noChangeArrowheads="1"/>
          </p:cNvSpPr>
          <p:nvPr>
            <p:ph idx="1"/>
          </p:nvPr>
        </p:nvSpPr>
        <p:spPr>
          <a:xfrm>
            <a:off x="2781283" y="2052116"/>
            <a:ext cx="7796540" cy="3997828"/>
          </a:xfrm>
        </p:spPr>
        <p:txBody>
          <a:bodyPr/>
          <a:lstStyle/>
          <a:p>
            <a:pPr eaLnBrk="1" hangingPunct="1"/>
            <a:r>
              <a:rPr lang="en-US" altLang="en-NP" dirty="0">
                <a:effectLst/>
              </a:rPr>
              <a:t>The RISC processor may not be able to access all the registers it has at any given time provided that it has many of it.</a:t>
            </a:r>
          </a:p>
          <a:p>
            <a:pPr eaLnBrk="1" hangingPunct="1"/>
            <a:r>
              <a:rPr lang="en-US" altLang="en-NP" dirty="0">
                <a:effectLst/>
              </a:rPr>
              <a:t>Most RISC CPUs have some </a:t>
            </a:r>
            <a:r>
              <a:rPr lang="en-US" altLang="en-NP" b="1" u="sng" dirty="0">
                <a:solidFill>
                  <a:srgbClr val="FFFF00"/>
                </a:solidFill>
                <a:effectLst/>
              </a:rPr>
              <a:t>global registers</a:t>
            </a:r>
            <a:r>
              <a:rPr lang="en-US" altLang="en-NP" dirty="0">
                <a:effectLst/>
              </a:rPr>
              <a:t> which are always accessible. The remaining registers are </a:t>
            </a:r>
            <a:r>
              <a:rPr lang="en-US" altLang="en-NP" b="1" u="sng" dirty="0">
                <a:solidFill>
                  <a:srgbClr val="FFFF00"/>
                </a:solidFill>
                <a:effectLst/>
              </a:rPr>
              <a:t>windowed</a:t>
            </a:r>
            <a:r>
              <a:rPr lang="en-US" altLang="en-NP" dirty="0">
                <a:effectLst/>
              </a:rPr>
              <a:t> so that only a subset of the registers are accessible at any specific time.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 calcmode="lin" valueType="num">
                                      <p:cBhvr additive="base">
                                        <p:cTn id="7" dur="500" fill="hold"/>
                                        <p:tgtEl>
                                          <p:spTgt spid="716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6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1683">
                                            <p:txEl>
                                              <p:pRg st="1" end="1"/>
                                            </p:txEl>
                                          </p:spTgt>
                                        </p:tgtEl>
                                        <p:attrNameLst>
                                          <p:attrName>style.visibility</p:attrName>
                                        </p:attrNameLst>
                                      </p:cBhvr>
                                      <p:to>
                                        <p:strVal val="visible"/>
                                      </p:to>
                                    </p:set>
                                    <p:anim calcmode="lin" valueType="num">
                                      <p:cBhvr additive="base">
                                        <p:cTn id="13" dur="500" fill="hold"/>
                                        <p:tgtEl>
                                          <p:spTgt spid="716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68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D56BBF99-6409-0385-E882-68BEAA0CB239}"/>
              </a:ext>
            </a:extLst>
          </p:cNvPr>
          <p:cNvSpPr>
            <a:spLocks noGrp="1" noRot="1" noChangeArrowheads="1"/>
          </p:cNvSpPr>
          <p:nvPr>
            <p:ph type="title"/>
          </p:nvPr>
        </p:nvSpPr>
        <p:spPr/>
        <p:txBody>
          <a:bodyPr/>
          <a:lstStyle/>
          <a:p>
            <a:pPr algn="ctr" eaLnBrk="1" hangingPunct="1"/>
            <a:r>
              <a:rPr lang="en-US" altLang="en-NP" b="0">
                <a:effectLst/>
                <a:latin typeface="Verdana" panose="020B0604030504040204" pitchFamily="34" charset="0"/>
              </a:rPr>
              <a:t>Register Windows</a:t>
            </a:r>
          </a:p>
        </p:txBody>
      </p:sp>
      <p:sp>
        <p:nvSpPr>
          <p:cNvPr id="72707" name="Rectangle 3">
            <a:extLst>
              <a:ext uri="{FF2B5EF4-FFF2-40B4-BE49-F238E27FC236}">
                <a16:creationId xmlns:a16="http://schemas.microsoft.com/office/drawing/2014/main" id="{46E9559B-CF48-D9A4-8862-06E4FD641407}"/>
              </a:ext>
            </a:extLst>
          </p:cNvPr>
          <p:cNvSpPr>
            <a:spLocks noGrp="1" noRot="1" noChangeArrowheads="1"/>
          </p:cNvSpPr>
          <p:nvPr>
            <p:ph type="body" idx="1"/>
          </p:nvPr>
        </p:nvSpPr>
        <p:spPr/>
        <p:txBody>
          <a:bodyPr>
            <a:normAutofit lnSpcReduction="10000"/>
          </a:bodyPr>
          <a:lstStyle/>
          <a:p>
            <a:pPr eaLnBrk="1" hangingPunct="1">
              <a:lnSpc>
                <a:spcPct val="80000"/>
              </a:lnSpc>
            </a:pPr>
            <a:r>
              <a:rPr lang="en-US" altLang="en-NP" sz="2800"/>
              <a:t>To understand how </a:t>
            </a:r>
            <a:r>
              <a:rPr lang="en-US" altLang="en-NP" sz="2800" b="1" u="sng">
                <a:solidFill>
                  <a:srgbClr val="FFFF00"/>
                </a:solidFill>
              </a:rPr>
              <a:t>register windows</a:t>
            </a:r>
            <a:r>
              <a:rPr lang="en-US" altLang="en-NP" sz="2800"/>
              <a:t> work, we consider the windowing scheme used by the Sun SPARC processor.</a:t>
            </a:r>
          </a:p>
          <a:p>
            <a:pPr eaLnBrk="1" hangingPunct="1">
              <a:lnSpc>
                <a:spcPct val="80000"/>
              </a:lnSpc>
            </a:pPr>
            <a:r>
              <a:rPr lang="en-US" altLang="en-NP" sz="2800"/>
              <a:t>The processor can access any of the 32 different registers at a given time. (The instruction formats for SPARC always use 5 bits to select a source/destination register which can take any 32 different values.</a:t>
            </a:r>
          </a:p>
          <a:p>
            <a:pPr eaLnBrk="1" hangingPunct="1">
              <a:lnSpc>
                <a:spcPct val="80000"/>
              </a:lnSpc>
            </a:pPr>
            <a:r>
              <a:rPr lang="en-US" altLang="en-NP" sz="2800"/>
              <a:t>Of these 32 registers, 8 are global registers that are always accessible. The remaining 24 registers are contained in the register window.</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2707">
                                            <p:txEl>
                                              <p:pRg st="0" end="0"/>
                                            </p:txEl>
                                          </p:spTgt>
                                        </p:tgtEl>
                                        <p:attrNameLst>
                                          <p:attrName>style.visibility</p:attrName>
                                        </p:attrNameLst>
                                      </p:cBhvr>
                                      <p:to>
                                        <p:strVal val="visible"/>
                                      </p:to>
                                    </p:set>
                                    <p:anim calcmode="lin" valueType="num">
                                      <p:cBhvr additive="base">
                                        <p:cTn id="7" dur="500" fill="hold"/>
                                        <p:tgtEl>
                                          <p:spTgt spid="727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27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2707">
                                            <p:txEl>
                                              <p:pRg st="1" end="1"/>
                                            </p:txEl>
                                          </p:spTgt>
                                        </p:tgtEl>
                                        <p:attrNameLst>
                                          <p:attrName>style.visibility</p:attrName>
                                        </p:attrNameLst>
                                      </p:cBhvr>
                                      <p:to>
                                        <p:strVal val="visible"/>
                                      </p:to>
                                    </p:set>
                                    <p:anim calcmode="lin" valueType="num">
                                      <p:cBhvr additive="base">
                                        <p:cTn id="13" dur="500" fill="hold"/>
                                        <p:tgtEl>
                                          <p:spTgt spid="727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27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2707">
                                            <p:txEl>
                                              <p:pRg st="2" end="2"/>
                                            </p:txEl>
                                          </p:spTgt>
                                        </p:tgtEl>
                                        <p:attrNameLst>
                                          <p:attrName>style.visibility</p:attrName>
                                        </p:attrNameLst>
                                      </p:cBhvr>
                                      <p:to>
                                        <p:strVal val="visible"/>
                                      </p:to>
                                    </p:set>
                                    <p:anim calcmode="lin" valueType="num">
                                      <p:cBhvr additive="base">
                                        <p:cTn id="19" dur="500" fill="hold"/>
                                        <p:tgtEl>
                                          <p:spTgt spid="727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270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79030E89-5A34-9DEB-4149-476EB414F13F}"/>
              </a:ext>
            </a:extLst>
          </p:cNvPr>
          <p:cNvSpPr>
            <a:spLocks noGrp="1" noRot="1" noChangeArrowheads="1"/>
          </p:cNvSpPr>
          <p:nvPr>
            <p:ph type="title"/>
          </p:nvPr>
        </p:nvSpPr>
        <p:spPr/>
        <p:txBody>
          <a:bodyPr/>
          <a:lstStyle/>
          <a:p>
            <a:pPr algn="ctr" eaLnBrk="1" hangingPunct="1"/>
            <a:r>
              <a:rPr lang="en-US" altLang="en-NP" b="0">
                <a:effectLst/>
                <a:latin typeface="Verdana" panose="020B0604030504040204" pitchFamily="34" charset="0"/>
              </a:rPr>
              <a:t>Register Window</a:t>
            </a:r>
          </a:p>
        </p:txBody>
      </p:sp>
      <p:sp>
        <p:nvSpPr>
          <p:cNvPr id="73731" name="Rectangle 3">
            <a:extLst>
              <a:ext uri="{FF2B5EF4-FFF2-40B4-BE49-F238E27FC236}">
                <a16:creationId xmlns:a16="http://schemas.microsoft.com/office/drawing/2014/main" id="{18EC14BC-A97A-BC88-0026-D7412161379D}"/>
              </a:ext>
            </a:extLst>
          </p:cNvPr>
          <p:cNvSpPr>
            <a:spLocks noGrp="1" noRot="1" noChangeArrowheads="1"/>
          </p:cNvSpPr>
          <p:nvPr>
            <p:ph type="body" idx="1"/>
          </p:nvPr>
        </p:nvSpPr>
        <p:spPr/>
        <p:txBody>
          <a:bodyPr/>
          <a:lstStyle/>
          <a:p>
            <a:pPr eaLnBrk="1" hangingPunct="1">
              <a:lnSpc>
                <a:spcPct val="90000"/>
              </a:lnSpc>
            </a:pPr>
            <a:r>
              <a:rPr lang="en-US" altLang="en-NP" sz="2400"/>
              <a:t>On figure 11.4, the register window overlap. The overlap consists of 8 registers in SPARC CPU. </a:t>
            </a:r>
            <a:r>
              <a:rPr lang="en-US" altLang="en-NP" sz="2400">
                <a:solidFill>
                  <a:srgbClr val="FFFF00"/>
                </a:solidFill>
              </a:rPr>
              <a:t>Notice that the organization of the windows are supposed to be circular and not linear; meaning that the last window overlaps with the first window.</a:t>
            </a:r>
          </a:p>
          <a:p>
            <a:pPr eaLnBrk="1" hangingPunct="1">
              <a:lnSpc>
                <a:spcPct val="90000"/>
              </a:lnSpc>
            </a:pPr>
            <a:r>
              <a:rPr lang="en-US" altLang="en-NP" sz="2400"/>
              <a:t>Example: the </a:t>
            </a:r>
            <a:r>
              <a:rPr lang="en-US" altLang="en-NP" sz="2400">
                <a:solidFill>
                  <a:srgbClr val="FFFF00"/>
                </a:solidFill>
              </a:rPr>
              <a:t>last 8 registers of window 1</a:t>
            </a:r>
            <a:r>
              <a:rPr lang="en-US" altLang="en-NP" sz="2400"/>
              <a:t> are </a:t>
            </a:r>
            <a:r>
              <a:rPr lang="en-US" altLang="en-NP" sz="2400" i="1"/>
              <a:t>also</a:t>
            </a:r>
            <a:r>
              <a:rPr lang="en-US" altLang="en-NP" sz="2400"/>
              <a:t> the </a:t>
            </a:r>
            <a:r>
              <a:rPr lang="en-US" altLang="en-NP" sz="2400">
                <a:solidFill>
                  <a:srgbClr val="FFFF00"/>
                </a:solidFill>
              </a:rPr>
              <a:t>first 8 registers of window 2</a:t>
            </a:r>
            <a:r>
              <a:rPr lang="en-US" altLang="en-NP" sz="2400"/>
              <a:t>. Similarly, the </a:t>
            </a:r>
            <a:r>
              <a:rPr lang="en-US" altLang="en-NP" sz="2400">
                <a:solidFill>
                  <a:srgbClr val="FFFF00"/>
                </a:solidFill>
              </a:rPr>
              <a:t>last 8 registers of window 2</a:t>
            </a:r>
            <a:r>
              <a:rPr lang="en-US" altLang="en-NP" sz="2400"/>
              <a:t> are also the </a:t>
            </a:r>
            <a:r>
              <a:rPr lang="en-US" altLang="en-NP" sz="2400">
                <a:solidFill>
                  <a:srgbClr val="FFFF00"/>
                </a:solidFill>
              </a:rPr>
              <a:t>first 8 registers of window 3</a:t>
            </a:r>
            <a:r>
              <a:rPr lang="en-US" altLang="en-NP" sz="2400"/>
              <a:t>. The middle 8 registers of window 2 are </a:t>
            </a:r>
            <a:r>
              <a:rPr lang="en-US" altLang="en-NP" sz="2400">
                <a:solidFill>
                  <a:srgbClr val="FFFF00"/>
                </a:solidFill>
              </a:rPr>
              <a:t>local</a:t>
            </a:r>
            <a:r>
              <a:rPr lang="en-US" altLang="en-NP" sz="2400"/>
              <a:t>; they are </a:t>
            </a:r>
            <a:r>
              <a:rPr lang="en-US" altLang="en-NP" sz="2400">
                <a:solidFill>
                  <a:srgbClr val="FFFF00"/>
                </a:solidFill>
              </a:rPr>
              <a:t>not shared</a:t>
            </a:r>
            <a:r>
              <a:rPr lang="en-US" altLang="en-NP" sz="2400"/>
              <a:t> with any other window.</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anim calcmode="lin" valueType="num">
                                      <p:cBhvr additive="base">
                                        <p:cTn id="7" dur="500" fill="hold"/>
                                        <p:tgtEl>
                                          <p:spTgt spid="737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37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3731">
                                            <p:txEl>
                                              <p:pRg st="1" end="1"/>
                                            </p:txEl>
                                          </p:spTgt>
                                        </p:tgtEl>
                                        <p:attrNameLst>
                                          <p:attrName>style.visibility</p:attrName>
                                        </p:attrNameLst>
                                      </p:cBhvr>
                                      <p:to>
                                        <p:strVal val="visible"/>
                                      </p:to>
                                    </p:set>
                                    <p:anim calcmode="lin" valueType="num">
                                      <p:cBhvr additive="base">
                                        <p:cTn id="13" dur="500" fill="hold"/>
                                        <p:tgtEl>
                                          <p:spTgt spid="737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373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5" name="Rectangle 5">
            <a:extLst>
              <a:ext uri="{FF2B5EF4-FFF2-40B4-BE49-F238E27FC236}">
                <a16:creationId xmlns:a16="http://schemas.microsoft.com/office/drawing/2014/main" id="{A239D905-F667-3071-C70C-5D78458ACBE5}"/>
              </a:ext>
            </a:extLst>
          </p:cNvPr>
          <p:cNvSpPr>
            <a:spLocks noGrp="1" noRot="1" noChangeArrowheads="1"/>
          </p:cNvSpPr>
          <p:nvPr>
            <p:ph type="title"/>
          </p:nvPr>
        </p:nvSpPr>
        <p:spPr/>
        <p:txBody>
          <a:bodyPr/>
          <a:lstStyle/>
          <a:p>
            <a:pPr eaLnBrk="1" hangingPunct="1">
              <a:defRPr/>
            </a:pPr>
            <a:r>
              <a:rPr lang="en-US" altLang="en-NP" dirty="0"/>
              <a:t> </a:t>
            </a:r>
            <a:endParaRPr lang="en-NP" altLang="en-NP" dirty="0"/>
          </a:p>
        </p:txBody>
      </p:sp>
      <p:pic>
        <p:nvPicPr>
          <p:cNvPr id="30722" name="Picture 4">
            <a:extLst>
              <a:ext uri="{FF2B5EF4-FFF2-40B4-BE49-F238E27FC236}">
                <a16:creationId xmlns:a16="http://schemas.microsoft.com/office/drawing/2014/main" id="{4BA02DA9-EC4F-6C73-72B3-01E3D8B1FFB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08098" y="0"/>
            <a:ext cx="9144000" cy="6858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CB6BA8B6-C000-0E74-7CFF-28ED45BCCDF2}"/>
              </a:ext>
            </a:extLst>
          </p:cNvPr>
          <p:cNvSpPr>
            <a:spLocks noGrp="1" noRot="1" noChangeArrowheads="1"/>
          </p:cNvSpPr>
          <p:nvPr>
            <p:ph type="title"/>
          </p:nvPr>
        </p:nvSpPr>
        <p:spPr/>
        <p:txBody>
          <a:bodyPr/>
          <a:lstStyle/>
          <a:p>
            <a:pPr algn="ctr" eaLnBrk="1" hangingPunct="1"/>
            <a:r>
              <a:rPr lang="en-US" altLang="en-NP" b="0">
                <a:effectLst/>
                <a:latin typeface="Verdana" panose="020B0604030504040204" pitchFamily="34" charset="0"/>
              </a:rPr>
              <a:t>Register Window</a:t>
            </a:r>
          </a:p>
        </p:txBody>
      </p:sp>
      <p:sp>
        <p:nvSpPr>
          <p:cNvPr id="31746" name="Rectangle 3">
            <a:extLst>
              <a:ext uri="{FF2B5EF4-FFF2-40B4-BE49-F238E27FC236}">
                <a16:creationId xmlns:a16="http://schemas.microsoft.com/office/drawing/2014/main" id="{D56123A2-0E60-4E22-9AFE-FC7F85EA2B4D}"/>
              </a:ext>
            </a:extLst>
          </p:cNvPr>
          <p:cNvSpPr>
            <a:spLocks noGrp="1" noRot="1" noChangeArrowheads="1"/>
          </p:cNvSpPr>
          <p:nvPr>
            <p:ph type="body" idx="1"/>
          </p:nvPr>
        </p:nvSpPr>
        <p:spPr/>
        <p:txBody>
          <a:bodyPr/>
          <a:lstStyle/>
          <a:p>
            <a:pPr eaLnBrk="1" hangingPunct="1"/>
            <a:r>
              <a:rPr lang="en-US" altLang="en-NP">
                <a:effectLst/>
              </a:rPr>
              <a:t>The RISC CPU must keep track of which window is active and which windows contain valid data. A </a:t>
            </a:r>
            <a:r>
              <a:rPr lang="en-US" altLang="en-NP" b="1" u="sng">
                <a:solidFill>
                  <a:srgbClr val="FFFF00"/>
                </a:solidFill>
                <a:effectLst/>
              </a:rPr>
              <a:t>window pointer register</a:t>
            </a:r>
            <a:r>
              <a:rPr lang="en-US" altLang="en-NP">
                <a:effectLst/>
              </a:rPr>
              <a:t> contains the value of the window that is currently active. A </a:t>
            </a:r>
            <a:r>
              <a:rPr lang="en-US" altLang="en-NP" b="1" u="sng">
                <a:solidFill>
                  <a:srgbClr val="FFFF00"/>
                </a:solidFill>
                <a:effectLst/>
              </a:rPr>
              <a:t>window mask register</a:t>
            </a:r>
            <a:r>
              <a:rPr lang="en-US" altLang="en-NP">
                <a:effectLst/>
              </a:rPr>
              <a:t> contains 1 bit per window and denotes which windows contains valid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F2CB830F-0B4D-C318-902F-E70CF5770639}"/>
              </a:ext>
            </a:extLst>
          </p:cNvPr>
          <p:cNvSpPr>
            <a:spLocks noGrp="1" noRot="1" noChangeArrowheads="1"/>
          </p:cNvSpPr>
          <p:nvPr>
            <p:ph type="title"/>
          </p:nvPr>
        </p:nvSpPr>
        <p:spPr/>
        <p:txBody>
          <a:bodyPr/>
          <a:lstStyle/>
          <a:p>
            <a:pPr algn="ctr" eaLnBrk="1" hangingPunct="1"/>
            <a:r>
              <a:rPr lang="en-US" altLang="en-NP" b="0">
                <a:effectLst/>
                <a:latin typeface="Verdana" panose="020B0604030504040204" pitchFamily="34" charset="0"/>
              </a:rPr>
              <a:t>Register Window</a:t>
            </a:r>
          </a:p>
        </p:txBody>
      </p:sp>
      <p:sp>
        <p:nvSpPr>
          <p:cNvPr id="32770" name="Rectangle 3">
            <a:extLst>
              <a:ext uri="{FF2B5EF4-FFF2-40B4-BE49-F238E27FC236}">
                <a16:creationId xmlns:a16="http://schemas.microsoft.com/office/drawing/2014/main" id="{787E0814-D182-70B7-8735-B45AFC6DC3E5}"/>
              </a:ext>
            </a:extLst>
          </p:cNvPr>
          <p:cNvSpPr>
            <a:spLocks noGrp="1" noRot="1" noChangeArrowheads="1"/>
          </p:cNvSpPr>
          <p:nvPr>
            <p:ph type="body" idx="1"/>
          </p:nvPr>
        </p:nvSpPr>
        <p:spPr/>
        <p:txBody>
          <a:bodyPr>
            <a:normAutofit lnSpcReduction="10000"/>
          </a:bodyPr>
          <a:lstStyle/>
          <a:p>
            <a:pPr eaLnBrk="1" hangingPunct="1">
              <a:lnSpc>
                <a:spcPct val="90000"/>
              </a:lnSpc>
            </a:pPr>
            <a:r>
              <a:rPr lang="en-US" altLang="en-NP" sz="2400"/>
              <a:t>Register windows provide their greatest benefit when the CPU calls a subroutine. During the </a:t>
            </a:r>
            <a:r>
              <a:rPr lang="en-US" altLang="en-NP" sz="2400">
                <a:solidFill>
                  <a:srgbClr val="FFFF00"/>
                </a:solidFill>
              </a:rPr>
              <a:t>calling process</a:t>
            </a:r>
            <a:r>
              <a:rPr lang="en-US" altLang="en-NP" sz="2400"/>
              <a:t>, the </a:t>
            </a:r>
            <a:r>
              <a:rPr lang="en-US" altLang="en-NP" sz="2400">
                <a:solidFill>
                  <a:srgbClr val="FFFF00"/>
                </a:solidFill>
              </a:rPr>
              <a:t>register window</a:t>
            </a:r>
            <a:r>
              <a:rPr lang="en-US" altLang="en-NP" sz="2400"/>
              <a:t> is </a:t>
            </a:r>
            <a:r>
              <a:rPr lang="en-US" altLang="en-NP" sz="2400">
                <a:solidFill>
                  <a:srgbClr val="FFFF00"/>
                </a:solidFill>
              </a:rPr>
              <a:t>moved down 1 window position</a:t>
            </a:r>
            <a:r>
              <a:rPr lang="en-US" altLang="en-NP" sz="2400"/>
              <a:t>. In the </a:t>
            </a:r>
            <a:r>
              <a:rPr lang="en-US" altLang="en-NP" sz="2400">
                <a:solidFill>
                  <a:srgbClr val="FFFF00"/>
                </a:solidFill>
              </a:rPr>
              <a:t>SPARC</a:t>
            </a:r>
            <a:r>
              <a:rPr lang="en-US" altLang="en-NP" sz="2400"/>
              <a:t> CPU, if </a:t>
            </a:r>
            <a:r>
              <a:rPr lang="en-US" altLang="en-NP" sz="2400">
                <a:solidFill>
                  <a:srgbClr val="FFFF00"/>
                </a:solidFill>
              </a:rPr>
              <a:t>window 1 is active</a:t>
            </a:r>
            <a:r>
              <a:rPr lang="en-US" altLang="en-NP" sz="2400"/>
              <a:t> and the </a:t>
            </a:r>
            <a:r>
              <a:rPr lang="en-US" altLang="en-NP" sz="2400">
                <a:solidFill>
                  <a:srgbClr val="FFFF00"/>
                </a:solidFill>
              </a:rPr>
              <a:t>CPU calls</a:t>
            </a:r>
            <a:r>
              <a:rPr lang="en-US" altLang="en-NP" sz="2400"/>
              <a:t> a </a:t>
            </a:r>
            <a:r>
              <a:rPr lang="en-US" altLang="en-NP" sz="2400">
                <a:solidFill>
                  <a:srgbClr val="FFFF00"/>
                </a:solidFill>
              </a:rPr>
              <a:t>subroutine</a:t>
            </a:r>
            <a:r>
              <a:rPr lang="en-US" altLang="en-NP" sz="2400"/>
              <a:t>, the </a:t>
            </a:r>
            <a:r>
              <a:rPr lang="en-US" altLang="en-NP" sz="2400">
                <a:solidFill>
                  <a:srgbClr val="FFFF00"/>
                </a:solidFill>
              </a:rPr>
              <a:t>processor activates window 2</a:t>
            </a:r>
            <a:r>
              <a:rPr lang="en-US" altLang="en-NP" sz="2400"/>
              <a:t> by </a:t>
            </a:r>
            <a:r>
              <a:rPr lang="en-US" altLang="en-NP" sz="2400">
                <a:solidFill>
                  <a:srgbClr val="FFFF00"/>
                </a:solidFill>
              </a:rPr>
              <a:t>updating the window pointer</a:t>
            </a:r>
            <a:r>
              <a:rPr lang="en-US" altLang="en-NP" sz="2400"/>
              <a:t> and </a:t>
            </a:r>
            <a:r>
              <a:rPr lang="en-US" altLang="en-NP" sz="2400">
                <a:solidFill>
                  <a:srgbClr val="FFFF00"/>
                </a:solidFill>
              </a:rPr>
              <a:t>window mask registers</a:t>
            </a:r>
            <a:r>
              <a:rPr lang="en-US" altLang="en-NP" sz="2400"/>
              <a:t>. The CPU can </a:t>
            </a:r>
            <a:r>
              <a:rPr lang="en-US" altLang="en-NP" sz="2400">
                <a:solidFill>
                  <a:srgbClr val="FFFF00"/>
                </a:solidFill>
              </a:rPr>
              <a:t>pass parameters</a:t>
            </a:r>
            <a:r>
              <a:rPr lang="en-US" altLang="en-NP" sz="2400"/>
              <a:t> to the </a:t>
            </a:r>
            <a:r>
              <a:rPr lang="en-US" altLang="en-NP" sz="2400">
                <a:solidFill>
                  <a:srgbClr val="FFFF00"/>
                </a:solidFill>
              </a:rPr>
              <a:t>subroutine via</a:t>
            </a:r>
            <a:r>
              <a:rPr lang="en-US" altLang="en-NP" sz="2400"/>
              <a:t> the </a:t>
            </a:r>
            <a:r>
              <a:rPr lang="en-US" altLang="en-NP" sz="2400">
                <a:solidFill>
                  <a:srgbClr val="FFFF00"/>
                </a:solidFill>
              </a:rPr>
              <a:t>registers that overlap both windows</a:t>
            </a:r>
            <a:r>
              <a:rPr lang="en-US" altLang="en-NP" sz="2400"/>
              <a:t> instead of memory. This saves a lot of time when accessing data. The CPU can use the same registers to return results to the calling routine.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BF02F876-E7EF-7DAD-5181-455BFCAE9205}"/>
              </a:ext>
            </a:extLst>
          </p:cNvPr>
          <p:cNvSpPr>
            <a:spLocks noGrp="1" noRot="1" noChangeArrowheads="1"/>
          </p:cNvSpPr>
          <p:nvPr>
            <p:ph type="title"/>
          </p:nvPr>
        </p:nvSpPr>
        <p:spPr/>
        <p:txBody>
          <a:bodyPr/>
          <a:lstStyle/>
          <a:p>
            <a:pPr algn="ctr" eaLnBrk="1" hangingPunct="1"/>
            <a:r>
              <a:rPr lang="en-US" altLang="en-NP" b="0">
                <a:effectLst/>
                <a:latin typeface="Verdana" panose="020B0604030504040204" pitchFamily="34" charset="0"/>
              </a:rPr>
              <a:t>Register Window Example</a:t>
            </a:r>
          </a:p>
        </p:txBody>
      </p:sp>
      <p:sp>
        <p:nvSpPr>
          <p:cNvPr id="33794" name="Rectangle 3">
            <a:extLst>
              <a:ext uri="{FF2B5EF4-FFF2-40B4-BE49-F238E27FC236}">
                <a16:creationId xmlns:a16="http://schemas.microsoft.com/office/drawing/2014/main" id="{398565F9-4BFA-C0A9-5801-9C0A8342BF22}"/>
              </a:ext>
            </a:extLst>
          </p:cNvPr>
          <p:cNvSpPr>
            <a:spLocks noGrp="1" noRot="1" noChangeArrowheads="1"/>
          </p:cNvSpPr>
          <p:nvPr>
            <p:ph type="body" idx="1"/>
          </p:nvPr>
        </p:nvSpPr>
        <p:spPr/>
        <p:txBody>
          <a:bodyPr>
            <a:normAutofit lnSpcReduction="10000"/>
          </a:bodyPr>
          <a:lstStyle/>
          <a:p>
            <a:pPr eaLnBrk="1" hangingPunct="1">
              <a:lnSpc>
                <a:spcPct val="80000"/>
              </a:lnSpc>
            </a:pPr>
            <a:r>
              <a:rPr lang="en-US" altLang="en-NP" sz="2400" dirty="0"/>
              <a:t>Example: A CPU with </a:t>
            </a:r>
            <a:r>
              <a:rPr lang="en-US" altLang="en-NP" sz="2400" dirty="0">
                <a:solidFill>
                  <a:srgbClr val="FFFF00"/>
                </a:solidFill>
              </a:rPr>
              <a:t>48 registers</a:t>
            </a:r>
            <a:r>
              <a:rPr lang="en-US" altLang="en-NP" sz="2400" dirty="0"/>
              <a:t>. The CPU has </a:t>
            </a:r>
            <a:r>
              <a:rPr lang="en-US" altLang="en-NP" sz="2400" dirty="0">
                <a:solidFill>
                  <a:srgbClr val="FFFF00"/>
                </a:solidFill>
              </a:rPr>
              <a:t>4 windows</a:t>
            </a:r>
            <a:r>
              <a:rPr lang="en-US" altLang="en-NP" sz="2400" dirty="0"/>
              <a:t> with </a:t>
            </a:r>
            <a:r>
              <a:rPr lang="en-US" altLang="en-NP" sz="2400" dirty="0">
                <a:solidFill>
                  <a:srgbClr val="FFFF00"/>
                </a:solidFill>
              </a:rPr>
              <a:t>16 registers each</a:t>
            </a:r>
            <a:r>
              <a:rPr lang="en-US" altLang="en-NP" sz="2400" dirty="0"/>
              <a:t> and an </a:t>
            </a:r>
            <a:r>
              <a:rPr lang="en-US" altLang="en-NP" sz="2400" dirty="0">
                <a:solidFill>
                  <a:srgbClr val="FFFF00"/>
                </a:solidFill>
              </a:rPr>
              <a:t>overlap</a:t>
            </a:r>
            <a:r>
              <a:rPr lang="en-US" altLang="en-NP" sz="2400" dirty="0"/>
              <a:t> of </a:t>
            </a:r>
            <a:r>
              <a:rPr lang="en-US" altLang="en-NP" sz="2400" dirty="0">
                <a:solidFill>
                  <a:srgbClr val="FFFF00"/>
                </a:solidFill>
              </a:rPr>
              <a:t>4 registers between windows</a:t>
            </a:r>
            <a:r>
              <a:rPr lang="en-US" altLang="en-NP" sz="2400" dirty="0"/>
              <a:t>. Initially the CPU is running a program using the 1</a:t>
            </a:r>
            <a:r>
              <a:rPr lang="en-US" altLang="en-NP" sz="2400" baseline="30000" dirty="0"/>
              <a:t>st</a:t>
            </a:r>
            <a:r>
              <a:rPr lang="en-US" altLang="en-NP" sz="2400" dirty="0"/>
              <a:t> register window (shown in 11.5a). It must </a:t>
            </a:r>
            <a:r>
              <a:rPr lang="en-US" altLang="en-NP" sz="2400" dirty="0">
                <a:solidFill>
                  <a:srgbClr val="FFFF00"/>
                </a:solidFill>
              </a:rPr>
              <a:t>call a subroutine and pass 3 parameters to the subroutine</a:t>
            </a:r>
            <a:r>
              <a:rPr lang="en-US" altLang="en-NP" sz="2400" dirty="0"/>
              <a:t>. The </a:t>
            </a:r>
            <a:r>
              <a:rPr lang="en-US" altLang="en-NP" sz="2400" dirty="0">
                <a:solidFill>
                  <a:srgbClr val="FFFF00"/>
                </a:solidFill>
              </a:rPr>
              <a:t>CPU stores these parameters in 3 of the 4 overlapping registers and calls the subroutine</a:t>
            </a:r>
            <a:r>
              <a:rPr lang="en-US" altLang="en-NP" sz="2400" dirty="0"/>
              <a:t>. Figure 11.5b shows the state of the CPU while the subroutine is active. The </a:t>
            </a:r>
            <a:r>
              <a:rPr lang="en-US" altLang="en-NP" sz="2400" dirty="0">
                <a:solidFill>
                  <a:srgbClr val="FFFF00"/>
                </a:solidFill>
              </a:rPr>
              <a:t>subroutine can directly access the parameters</a:t>
            </a:r>
            <a:r>
              <a:rPr lang="en-US" altLang="en-NP" sz="2400" dirty="0"/>
              <a:t>. Now the </a:t>
            </a:r>
            <a:r>
              <a:rPr lang="en-US" altLang="en-NP" sz="2400" dirty="0">
                <a:solidFill>
                  <a:srgbClr val="FFFF00"/>
                </a:solidFill>
              </a:rPr>
              <a:t>subroutine calculates a result to be returned to the main program</a:t>
            </a:r>
            <a:r>
              <a:rPr lang="en-US" altLang="en-NP" sz="2400" dirty="0"/>
              <a:t>. The </a:t>
            </a:r>
            <a:r>
              <a:rPr lang="en-US" altLang="en-NP" sz="2400" dirty="0">
                <a:solidFill>
                  <a:srgbClr val="FFFF00"/>
                </a:solidFill>
              </a:rPr>
              <a:t>deactivates the 2</a:t>
            </a:r>
            <a:r>
              <a:rPr lang="en-US" altLang="en-NP" sz="2400" baseline="30000" dirty="0">
                <a:solidFill>
                  <a:srgbClr val="FFFF00"/>
                </a:solidFill>
              </a:rPr>
              <a:t>nd</a:t>
            </a:r>
            <a:r>
              <a:rPr lang="en-US" altLang="en-NP" sz="2400" dirty="0">
                <a:solidFill>
                  <a:srgbClr val="FFFF00"/>
                </a:solidFill>
              </a:rPr>
              <a:t> window</a:t>
            </a:r>
            <a:r>
              <a:rPr lang="en-US" altLang="en-NP" sz="2400" dirty="0"/>
              <a:t>; the CPU now works with the 1</a:t>
            </a:r>
            <a:r>
              <a:rPr lang="en-US" altLang="en-NP" sz="2400" baseline="30000" dirty="0"/>
              <a:t>st</a:t>
            </a:r>
            <a:r>
              <a:rPr lang="en-US" altLang="en-NP" sz="2400" dirty="0"/>
              <a:t> window as shown in figure 11.5c and can directly access the result.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3" name="Rectangle 5">
            <a:extLst>
              <a:ext uri="{FF2B5EF4-FFF2-40B4-BE49-F238E27FC236}">
                <a16:creationId xmlns:a16="http://schemas.microsoft.com/office/drawing/2014/main" id="{B489B281-C3BD-54AF-C92E-08F7EE7D2186}"/>
              </a:ext>
            </a:extLst>
          </p:cNvPr>
          <p:cNvSpPr>
            <a:spLocks noGrp="1" noRot="1" noChangeArrowheads="1"/>
          </p:cNvSpPr>
          <p:nvPr>
            <p:ph type="title"/>
          </p:nvPr>
        </p:nvSpPr>
        <p:spPr/>
        <p:txBody>
          <a:bodyPr/>
          <a:lstStyle/>
          <a:p>
            <a:pPr eaLnBrk="1" hangingPunct="1">
              <a:defRPr/>
            </a:pPr>
            <a:endParaRPr lang="en-NP" altLang="en-NP"/>
          </a:p>
        </p:txBody>
      </p:sp>
      <p:pic>
        <p:nvPicPr>
          <p:cNvPr id="34818" name="Picture 4">
            <a:extLst>
              <a:ext uri="{FF2B5EF4-FFF2-40B4-BE49-F238E27FC236}">
                <a16:creationId xmlns:a16="http://schemas.microsoft.com/office/drawing/2014/main" id="{7A03C20D-BA1E-63E9-4C29-5B7BEDD743E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18557" y="0"/>
            <a:ext cx="9144000" cy="6858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E91155FE-B001-050E-E027-A06168468F81}"/>
              </a:ext>
            </a:extLst>
          </p:cNvPr>
          <p:cNvSpPr>
            <a:spLocks noGrp="1" noRot="1" noChangeArrowheads="1"/>
          </p:cNvSpPr>
          <p:nvPr>
            <p:ph type="title"/>
          </p:nvPr>
        </p:nvSpPr>
        <p:spPr/>
        <p:txBody>
          <a:bodyPr/>
          <a:lstStyle/>
          <a:p>
            <a:pPr algn="ctr" eaLnBrk="1" hangingPunct="1"/>
            <a:r>
              <a:rPr lang="en-US" altLang="en-NP" b="0">
                <a:effectLst/>
                <a:latin typeface="Verdana" panose="020B0604030504040204" pitchFamily="34" charset="0"/>
              </a:rPr>
              <a:t>Register Windows</a:t>
            </a:r>
          </a:p>
        </p:txBody>
      </p:sp>
      <p:sp>
        <p:nvSpPr>
          <p:cNvPr id="77827" name="Rectangle 3">
            <a:extLst>
              <a:ext uri="{FF2B5EF4-FFF2-40B4-BE49-F238E27FC236}">
                <a16:creationId xmlns:a16="http://schemas.microsoft.com/office/drawing/2014/main" id="{2456531F-B64B-58B0-6933-28C2302A733D}"/>
              </a:ext>
            </a:extLst>
          </p:cNvPr>
          <p:cNvSpPr>
            <a:spLocks noGrp="1" noRot="1" noChangeArrowheads="1"/>
          </p:cNvSpPr>
          <p:nvPr>
            <p:ph type="body" idx="1"/>
          </p:nvPr>
        </p:nvSpPr>
        <p:spPr/>
        <p:txBody>
          <a:bodyPr>
            <a:normAutofit fontScale="92500" lnSpcReduction="10000"/>
          </a:bodyPr>
          <a:lstStyle/>
          <a:p>
            <a:pPr eaLnBrk="1" hangingPunct="1">
              <a:defRPr/>
            </a:pPr>
            <a:r>
              <a:rPr lang="en-US" altLang="en-NP" sz="2800"/>
              <a:t>Most RISC processors that use register windowing have about 8 windows which is sufficient for the vast majority of programs to handle subroutine calls. Besides recursive subroutines, it is unusual for a program to go beyond 8 levels of calls. However it is possible for the </a:t>
            </a:r>
            <a:r>
              <a:rPr lang="en-US" altLang="en-NP" sz="2800">
                <a:solidFill>
                  <a:srgbClr val="FFFF00"/>
                </a:solidFill>
              </a:rPr>
              <a:t>level of calls to exceed the number of windows</a:t>
            </a:r>
            <a:r>
              <a:rPr lang="en-US" altLang="en-NP" sz="2800"/>
              <a:t> and the CPU must be able to handle this situation.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F6E9223B-55D8-F95F-368C-49639FAC9C04}"/>
              </a:ext>
            </a:extLst>
          </p:cNvPr>
          <p:cNvSpPr>
            <a:spLocks noGrp="1" noRot="1" noChangeArrowheads="1"/>
          </p:cNvSpPr>
          <p:nvPr>
            <p:ph type="title"/>
          </p:nvPr>
        </p:nvSpPr>
        <p:spPr/>
        <p:txBody>
          <a:bodyPr/>
          <a:lstStyle/>
          <a:p>
            <a:pPr algn="ctr" eaLnBrk="1" hangingPunct="1"/>
            <a:r>
              <a:rPr lang="en-US" altLang="en-NP" b="0">
                <a:effectLst/>
                <a:latin typeface="Verdana" panose="020B0604030504040204" pitchFamily="34" charset="0"/>
              </a:rPr>
              <a:t>Register Renaming</a:t>
            </a:r>
          </a:p>
        </p:txBody>
      </p:sp>
      <p:sp>
        <p:nvSpPr>
          <p:cNvPr id="79875" name="Rectangle 3">
            <a:extLst>
              <a:ext uri="{FF2B5EF4-FFF2-40B4-BE49-F238E27FC236}">
                <a16:creationId xmlns:a16="http://schemas.microsoft.com/office/drawing/2014/main" id="{144CEE65-6B26-1920-501B-9BD11EE34D2E}"/>
              </a:ext>
            </a:extLst>
          </p:cNvPr>
          <p:cNvSpPr>
            <a:spLocks noGrp="1" noRot="1" noChangeArrowheads="1"/>
          </p:cNvSpPr>
          <p:nvPr>
            <p:ph type="body" idx="1"/>
          </p:nvPr>
        </p:nvSpPr>
        <p:spPr/>
        <p:txBody>
          <a:bodyPr/>
          <a:lstStyle/>
          <a:p>
            <a:pPr eaLnBrk="1" hangingPunct="1"/>
            <a:r>
              <a:rPr lang="en-US" altLang="en-NP" dirty="0">
                <a:effectLst/>
              </a:rPr>
              <a:t>Unlike </a:t>
            </a:r>
            <a:r>
              <a:rPr lang="en-US" altLang="en-NP" dirty="0">
                <a:solidFill>
                  <a:srgbClr val="FFFF00"/>
                </a:solidFill>
                <a:effectLst/>
              </a:rPr>
              <a:t>register windowing</a:t>
            </a:r>
            <a:r>
              <a:rPr lang="en-US" altLang="en-NP" dirty="0">
                <a:effectLst/>
              </a:rPr>
              <a:t>, in which </a:t>
            </a:r>
            <a:r>
              <a:rPr lang="en-US" altLang="en-NP" dirty="0">
                <a:solidFill>
                  <a:srgbClr val="FFFF00"/>
                </a:solidFill>
                <a:effectLst/>
              </a:rPr>
              <a:t>only specific groups of physical registers are active at any given time</a:t>
            </a:r>
            <a:r>
              <a:rPr lang="en-US" altLang="en-NP" dirty="0">
                <a:effectLst/>
              </a:rPr>
              <a:t>, </a:t>
            </a:r>
            <a:r>
              <a:rPr lang="en-US" altLang="en-NP" dirty="0">
                <a:solidFill>
                  <a:srgbClr val="FFFF00"/>
                </a:solidFill>
                <a:effectLst/>
              </a:rPr>
              <a:t>register renaming allows any group of physical registers to be active</a:t>
            </a:r>
            <a:r>
              <a:rPr lang="en-US" altLang="en-NP" dirty="0">
                <a:effectLst/>
              </a:rPr>
              <a:t>. </a:t>
            </a:r>
          </a:p>
          <a:p>
            <a:pPr eaLnBrk="1" hangingPunct="1"/>
            <a:r>
              <a:rPr lang="en-US" altLang="en-NP" dirty="0">
                <a:effectLst/>
              </a:rPr>
              <a:t>The Practical Perspective looks at register windowing and register renaming in real-world CPUs.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9875">
                                            <p:txEl>
                                              <p:pRg st="0" end="0"/>
                                            </p:txEl>
                                          </p:spTgt>
                                        </p:tgtEl>
                                        <p:attrNameLst>
                                          <p:attrName>style.visibility</p:attrName>
                                        </p:attrNameLst>
                                      </p:cBhvr>
                                      <p:to>
                                        <p:strVal val="visible"/>
                                      </p:to>
                                    </p:set>
                                    <p:anim calcmode="lin" valueType="num">
                                      <p:cBhvr additive="base">
                                        <p:cTn id="7" dur="500" fill="hold"/>
                                        <p:tgtEl>
                                          <p:spTgt spid="798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98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9875">
                                            <p:txEl>
                                              <p:pRg st="1" end="1"/>
                                            </p:txEl>
                                          </p:spTgt>
                                        </p:tgtEl>
                                        <p:attrNameLst>
                                          <p:attrName>style.visibility</p:attrName>
                                        </p:attrNameLst>
                                      </p:cBhvr>
                                      <p:to>
                                        <p:strVal val="visible"/>
                                      </p:to>
                                    </p:set>
                                    <p:anim calcmode="lin" valueType="num">
                                      <p:cBhvr additive="base">
                                        <p:cTn id="13" dur="500" fill="hold"/>
                                        <p:tgtEl>
                                          <p:spTgt spid="798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987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63D1CEB8-7AE7-2F7D-897D-BA778006D704}"/>
              </a:ext>
            </a:extLst>
          </p:cNvPr>
          <p:cNvSpPr>
            <a:spLocks noGrp="1" noRot="1" noChangeArrowheads="1"/>
          </p:cNvSpPr>
          <p:nvPr>
            <p:ph type="title"/>
          </p:nvPr>
        </p:nvSpPr>
        <p:spPr/>
        <p:txBody>
          <a:bodyPr/>
          <a:lstStyle/>
          <a:p>
            <a:pPr algn="ctr" eaLnBrk="1" hangingPunct="1"/>
            <a:r>
              <a:rPr lang="en-US" altLang="en-NP" b="0">
                <a:effectLst/>
                <a:latin typeface="Verdana" panose="020B0604030504040204" pitchFamily="34" charset="0"/>
              </a:rPr>
              <a:t>Register Renaming</a:t>
            </a:r>
          </a:p>
        </p:txBody>
      </p:sp>
      <p:sp>
        <p:nvSpPr>
          <p:cNvPr id="78851" name="Rectangle 3">
            <a:extLst>
              <a:ext uri="{FF2B5EF4-FFF2-40B4-BE49-F238E27FC236}">
                <a16:creationId xmlns:a16="http://schemas.microsoft.com/office/drawing/2014/main" id="{DBFC4993-11E1-7B09-8B59-0D1D2C878BDB}"/>
              </a:ext>
            </a:extLst>
          </p:cNvPr>
          <p:cNvSpPr>
            <a:spLocks noGrp="1" noRot="1" noChangeArrowheads="1"/>
          </p:cNvSpPr>
          <p:nvPr>
            <p:ph type="body" idx="1"/>
          </p:nvPr>
        </p:nvSpPr>
        <p:spPr/>
        <p:txBody>
          <a:bodyPr/>
          <a:lstStyle/>
          <a:p>
            <a:pPr eaLnBrk="1" hangingPunct="1">
              <a:lnSpc>
                <a:spcPct val="90000"/>
              </a:lnSpc>
              <a:defRPr/>
            </a:pPr>
            <a:r>
              <a:rPr lang="en-US" altLang="en-NP"/>
              <a:t>More recent processors may use </a:t>
            </a:r>
            <a:r>
              <a:rPr lang="en-US" altLang="en-NP" b="1" u="sng">
                <a:solidFill>
                  <a:srgbClr val="FFFF00"/>
                </a:solidFill>
              </a:rPr>
              <a:t>register renaming</a:t>
            </a:r>
            <a:r>
              <a:rPr lang="en-US" altLang="en-NP"/>
              <a:t> to add flexibility to the idea of register windowing. A processor that uses register renaming can select any registers to create its working register “window.” The CPU uses pointers to keep track of which registers are active and which physical register corresponds to each logical register.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17ACD99E-C859-7677-C2B7-6F841F9DDF7D}"/>
              </a:ext>
            </a:extLst>
          </p:cNvPr>
          <p:cNvSpPr>
            <a:spLocks noGrp="1" noRot="1" noChangeArrowheads="1"/>
          </p:cNvSpPr>
          <p:nvPr>
            <p:ph type="title"/>
          </p:nvPr>
        </p:nvSpPr>
        <p:spPr/>
        <p:txBody>
          <a:bodyPr/>
          <a:lstStyle/>
          <a:p>
            <a:pPr algn="ctr" eaLnBrk="1" hangingPunct="1"/>
            <a:r>
              <a:rPr lang="en-US" altLang="en-NP" b="0">
                <a:effectLst/>
                <a:latin typeface="Verdana" panose="020B0604030504040204" pitchFamily="34" charset="0"/>
              </a:rPr>
              <a:t>Practical Perspective</a:t>
            </a:r>
          </a:p>
        </p:txBody>
      </p:sp>
      <p:sp>
        <p:nvSpPr>
          <p:cNvPr id="80899" name="Rectangle 3">
            <a:extLst>
              <a:ext uri="{FF2B5EF4-FFF2-40B4-BE49-F238E27FC236}">
                <a16:creationId xmlns:a16="http://schemas.microsoft.com/office/drawing/2014/main" id="{01E952BB-6CD9-8E06-4A0A-9F0F11DECBC7}"/>
              </a:ext>
            </a:extLst>
          </p:cNvPr>
          <p:cNvSpPr>
            <a:spLocks noGrp="1" noRot="1" noChangeArrowheads="1"/>
          </p:cNvSpPr>
          <p:nvPr>
            <p:ph type="body" idx="1"/>
          </p:nvPr>
        </p:nvSpPr>
        <p:spPr/>
        <p:txBody>
          <a:bodyPr>
            <a:normAutofit fontScale="92500"/>
          </a:bodyPr>
          <a:lstStyle/>
          <a:p>
            <a:pPr eaLnBrk="1" hangingPunct="1">
              <a:lnSpc>
                <a:spcPct val="80000"/>
              </a:lnSpc>
            </a:pPr>
            <a:r>
              <a:rPr lang="en-US" altLang="en-NP" sz="2200"/>
              <a:t>Both register windowing and register renaming are used in modern processors. In addition to SPARC processors, the RISC II processor uses </a:t>
            </a:r>
            <a:r>
              <a:rPr lang="en-US" altLang="en-NP" sz="2200">
                <a:solidFill>
                  <a:srgbClr val="FFFF00"/>
                </a:solidFill>
              </a:rPr>
              <a:t>register windowing</a:t>
            </a:r>
            <a:r>
              <a:rPr lang="en-US" altLang="en-NP" sz="2200"/>
              <a:t>. The </a:t>
            </a:r>
            <a:r>
              <a:rPr lang="en-US" altLang="en-NP" sz="2200">
                <a:solidFill>
                  <a:srgbClr val="FFFF00"/>
                </a:solidFill>
              </a:rPr>
              <a:t>RISC II</a:t>
            </a:r>
            <a:r>
              <a:rPr lang="en-US" altLang="en-NP" sz="2200"/>
              <a:t> processor has </a:t>
            </a:r>
            <a:r>
              <a:rPr lang="en-US" altLang="en-NP" sz="2200">
                <a:solidFill>
                  <a:srgbClr val="FFFF00"/>
                </a:solidFill>
              </a:rPr>
              <a:t>138 registers</a:t>
            </a:r>
            <a:r>
              <a:rPr lang="en-US" altLang="en-NP" sz="2200"/>
              <a:t>; 10 are global and the rest are windowed. Each of its 8 windows contain 22 registers: 6 common input, 10 local, and 6 common output. The UltraSPARC III processor also uses register windowing. The MIPS R10000 on the other hand uses register renaming.</a:t>
            </a:r>
          </a:p>
          <a:p>
            <a:pPr eaLnBrk="1" hangingPunct="1">
              <a:lnSpc>
                <a:spcPct val="80000"/>
              </a:lnSpc>
              <a:buFont typeface="Wingdings" pitchFamily="2" charset="2"/>
              <a:buNone/>
            </a:pPr>
            <a:endParaRPr lang="en-US" altLang="en-NP" sz="2200"/>
          </a:p>
          <a:p>
            <a:pPr eaLnBrk="1" hangingPunct="1">
              <a:lnSpc>
                <a:spcPct val="80000"/>
              </a:lnSpc>
            </a:pPr>
            <a:r>
              <a:rPr lang="en-US" altLang="en-NP" sz="2200"/>
              <a:t>Intel’s Itanium processor takes a unique approach. It has </a:t>
            </a:r>
            <a:r>
              <a:rPr lang="en-US" altLang="en-NP" sz="2200">
                <a:solidFill>
                  <a:srgbClr val="FFFF00"/>
                </a:solidFill>
              </a:rPr>
              <a:t>128 integer registers</a:t>
            </a:r>
            <a:r>
              <a:rPr lang="en-US" altLang="en-NP" sz="2200"/>
              <a:t>, 32 of which are global. The remaining 96 registers are windowed, but the size of the window is not fixed; their size can be varied depending on the needs of the program under execution.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0899">
                                            <p:txEl>
                                              <p:pRg st="0" end="0"/>
                                            </p:txEl>
                                          </p:spTgt>
                                        </p:tgtEl>
                                        <p:attrNameLst>
                                          <p:attrName>style.visibility</p:attrName>
                                        </p:attrNameLst>
                                      </p:cBhvr>
                                      <p:to>
                                        <p:strVal val="visible"/>
                                      </p:to>
                                    </p:set>
                                    <p:anim calcmode="lin" valueType="num">
                                      <p:cBhvr additive="base">
                                        <p:cTn id="7" dur="500" fill="hold"/>
                                        <p:tgtEl>
                                          <p:spTgt spid="808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08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0899">
                                            <p:txEl>
                                              <p:pRg st="2" end="2"/>
                                            </p:txEl>
                                          </p:spTgt>
                                        </p:tgtEl>
                                        <p:attrNameLst>
                                          <p:attrName>style.visibility</p:attrName>
                                        </p:attrNameLst>
                                      </p:cBhvr>
                                      <p:to>
                                        <p:strVal val="visible"/>
                                      </p:to>
                                    </p:set>
                                    <p:anim calcmode="lin" valueType="num">
                                      <p:cBhvr additive="base">
                                        <p:cTn id="13" dur="500" fill="hold"/>
                                        <p:tgtEl>
                                          <p:spTgt spid="8089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089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C761D-C122-79C9-B3E2-D2651B8AC5E7}"/>
              </a:ext>
            </a:extLst>
          </p:cNvPr>
          <p:cNvSpPr>
            <a:spLocks noGrp="1"/>
          </p:cNvSpPr>
          <p:nvPr>
            <p:ph type="title"/>
          </p:nvPr>
        </p:nvSpPr>
        <p:spPr>
          <a:xfrm>
            <a:off x="1121790" y="808056"/>
            <a:ext cx="10101881" cy="1077229"/>
          </a:xfrm>
        </p:spPr>
        <p:txBody>
          <a:bodyPr/>
          <a:lstStyle/>
          <a:p>
            <a:r>
              <a:rPr lang="en-US" dirty="0"/>
              <a:t>C</a:t>
            </a:r>
            <a:r>
              <a:rPr lang="en-NP" dirty="0"/>
              <a:t>ircular buffer organization of overlapped windows</a:t>
            </a:r>
          </a:p>
        </p:txBody>
      </p:sp>
      <p:pic>
        <p:nvPicPr>
          <p:cNvPr id="5" name="Content Placeholder 4">
            <a:extLst>
              <a:ext uri="{FF2B5EF4-FFF2-40B4-BE49-F238E27FC236}">
                <a16:creationId xmlns:a16="http://schemas.microsoft.com/office/drawing/2014/main" id="{AC631002-DF28-9BE6-4D1B-E19D1CE45922}"/>
              </a:ext>
            </a:extLst>
          </p:cNvPr>
          <p:cNvPicPr>
            <a:picLocks noGrp="1" noChangeAspect="1"/>
          </p:cNvPicPr>
          <p:nvPr>
            <p:ph idx="1"/>
          </p:nvPr>
        </p:nvPicPr>
        <p:blipFill>
          <a:blip r:embed="rId2"/>
          <a:stretch>
            <a:fillRect/>
          </a:stretch>
        </p:blipFill>
        <p:spPr>
          <a:xfrm>
            <a:off x="6175438" y="1379349"/>
            <a:ext cx="5038807" cy="5209987"/>
          </a:xfrm>
        </p:spPr>
      </p:pic>
      <p:sp>
        <p:nvSpPr>
          <p:cNvPr id="6" name="TextBox 5">
            <a:extLst>
              <a:ext uri="{FF2B5EF4-FFF2-40B4-BE49-F238E27FC236}">
                <a16:creationId xmlns:a16="http://schemas.microsoft.com/office/drawing/2014/main" id="{399D22A3-22B0-C65D-71D4-D6657E3ABBF5}"/>
              </a:ext>
            </a:extLst>
          </p:cNvPr>
          <p:cNvSpPr txBox="1"/>
          <p:nvPr/>
        </p:nvSpPr>
        <p:spPr>
          <a:xfrm>
            <a:off x="1301858" y="1379349"/>
            <a:ext cx="5085863" cy="5909310"/>
          </a:xfrm>
          <a:prstGeom prst="rect">
            <a:avLst/>
          </a:prstGeom>
          <a:noFill/>
        </p:spPr>
        <p:txBody>
          <a:bodyPr wrap="square" rtlCol="0">
            <a:spAutoFit/>
          </a:bodyPr>
          <a:lstStyle/>
          <a:p>
            <a:pPr>
              <a:buFont typeface="Arial" panose="020B0604020202020204" pitchFamily="34" charset="0"/>
              <a:buChar char="•"/>
            </a:pPr>
            <a:r>
              <a:rPr lang="en-US" sz="2400" dirty="0">
                <a:effectLst/>
                <a:latin typeface="Times New Roman" panose="02020603050405020304" pitchFamily="18" charset="0"/>
                <a:cs typeface="Times New Roman" panose="02020603050405020304" pitchFamily="18" charset="0"/>
              </a:rPr>
              <a:t>A circular buffer of 6 windows. </a:t>
            </a:r>
          </a:p>
          <a:p>
            <a:r>
              <a:rPr lang="en-US" sz="2400" dirty="0">
                <a:effectLst/>
                <a:latin typeface="Times New Roman" panose="02020603050405020304" pitchFamily="18" charset="0"/>
                <a:cs typeface="Times New Roman" panose="02020603050405020304" pitchFamily="18" charset="0"/>
              </a:rPr>
              <a:t>The buffer is filled to a depth of </a:t>
            </a:r>
          </a:p>
          <a:p>
            <a:r>
              <a:rPr lang="en-US" sz="2400" dirty="0">
                <a:effectLst/>
                <a:latin typeface="Times New Roman" panose="02020603050405020304" pitchFamily="18" charset="0"/>
                <a:cs typeface="Times New Roman" panose="02020603050405020304" pitchFamily="18" charset="0"/>
              </a:rPr>
              <a:t>4 (A called B, B called C, C called D) </a:t>
            </a:r>
          </a:p>
          <a:p>
            <a:r>
              <a:rPr lang="en-US" sz="2400" dirty="0">
                <a:effectLst/>
                <a:latin typeface="Times New Roman" panose="02020603050405020304" pitchFamily="18" charset="0"/>
                <a:cs typeface="Times New Roman" panose="02020603050405020304" pitchFamily="18" charset="0"/>
              </a:rPr>
              <a:t>with procedure D active. </a:t>
            </a:r>
          </a:p>
          <a:p>
            <a:pPr>
              <a:buFont typeface="Arial" panose="020B0604020202020204" pitchFamily="34" charset="0"/>
              <a:buChar char="•"/>
            </a:pPr>
            <a:r>
              <a:rPr lang="en-US" sz="2400" dirty="0">
                <a:effectLst/>
                <a:latin typeface="Times New Roman" panose="02020603050405020304" pitchFamily="18" charset="0"/>
                <a:cs typeface="Times New Roman" panose="02020603050405020304" pitchFamily="18" charset="0"/>
              </a:rPr>
              <a:t>CWP points to the window of the currently active procedure. </a:t>
            </a:r>
          </a:p>
          <a:p>
            <a:pPr>
              <a:buFont typeface="Arial" panose="020B0604020202020204" pitchFamily="34" charset="0"/>
              <a:buChar char="•"/>
            </a:pPr>
            <a:r>
              <a:rPr lang="en-US" sz="2400" dirty="0">
                <a:effectLst/>
                <a:latin typeface="Times New Roman" panose="02020603050405020304" pitchFamily="18" charset="0"/>
                <a:cs typeface="Times New Roman" panose="02020603050405020304" pitchFamily="18" charset="0"/>
              </a:rPr>
              <a:t>Reg references are offset by CWP to determine the actual physical reg. </a:t>
            </a:r>
          </a:p>
          <a:p>
            <a:pPr>
              <a:buFont typeface="Arial" panose="020B0604020202020204" pitchFamily="34" charset="0"/>
              <a:buChar char="•"/>
            </a:pPr>
            <a:r>
              <a:rPr lang="en-US" sz="2400" dirty="0">
                <a:effectLst/>
                <a:latin typeface="Times New Roman" panose="02020603050405020304" pitchFamily="18" charset="0"/>
                <a:cs typeface="Times New Roman" panose="02020603050405020304" pitchFamily="18" charset="0"/>
              </a:rPr>
              <a:t>SWP identifies the window most recently saved in memory. </a:t>
            </a:r>
          </a:p>
          <a:p>
            <a:pPr>
              <a:buFont typeface="Arial" panose="020B0604020202020204" pitchFamily="34" charset="0"/>
              <a:buChar char="•"/>
            </a:pPr>
            <a:r>
              <a:rPr lang="en-US" sz="2400" dirty="0">
                <a:effectLst/>
                <a:latin typeface="Times New Roman" panose="02020603050405020304" pitchFamily="18" charset="0"/>
                <a:cs typeface="Times New Roman" panose="02020603050405020304" pitchFamily="18" charset="0"/>
              </a:rPr>
              <a:t>If procedure D now calls procedure E, arguments for E are placed in D’s temporary regs (overlap between w3 &amp; w4), and CWP is advanced by one window.</a:t>
            </a:r>
            <a:br>
              <a:rPr lang="en-US" sz="1800" dirty="0">
                <a:effectLst/>
                <a:latin typeface="Arial" panose="020B0604020202020204" pitchFamily="34" charset="0"/>
              </a:rPr>
            </a:br>
            <a:endParaRPr lang="en-US" sz="1800" dirty="0">
              <a:effectLst/>
              <a:latin typeface="Arial" panose="020B0604020202020204" pitchFamily="34" charset="0"/>
            </a:endParaRPr>
          </a:p>
        </p:txBody>
      </p:sp>
    </p:spTree>
    <p:extLst>
      <p:ext uri="{BB962C8B-B14F-4D97-AF65-F5344CB8AC3E}">
        <p14:creationId xmlns:p14="http://schemas.microsoft.com/office/powerpoint/2010/main" val="4057881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82A50-A65C-0AF1-1147-FDA51976752B}"/>
              </a:ext>
            </a:extLst>
          </p:cNvPr>
          <p:cNvSpPr>
            <a:spLocks noGrp="1"/>
          </p:cNvSpPr>
          <p:nvPr>
            <p:ph type="title"/>
          </p:nvPr>
        </p:nvSpPr>
        <p:spPr/>
        <p:txBody>
          <a:bodyPr/>
          <a:lstStyle/>
          <a:p>
            <a:endParaRPr lang="en-NP"/>
          </a:p>
        </p:txBody>
      </p:sp>
      <p:pic>
        <p:nvPicPr>
          <p:cNvPr id="5" name="Content Placeholder 4">
            <a:extLst>
              <a:ext uri="{FF2B5EF4-FFF2-40B4-BE49-F238E27FC236}">
                <a16:creationId xmlns:a16="http://schemas.microsoft.com/office/drawing/2014/main" id="{76BF911F-EDC0-33EC-B917-438CE4D5D449}"/>
              </a:ext>
            </a:extLst>
          </p:cNvPr>
          <p:cNvPicPr>
            <a:picLocks noGrp="1" noChangeAspect="1"/>
          </p:cNvPicPr>
          <p:nvPr>
            <p:ph idx="1"/>
          </p:nvPr>
        </p:nvPicPr>
        <p:blipFill>
          <a:blip r:embed="rId2"/>
          <a:stretch>
            <a:fillRect/>
          </a:stretch>
        </p:blipFill>
        <p:spPr>
          <a:xfrm>
            <a:off x="37856" y="0"/>
            <a:ext cx="12154144" cy="6858000"/>
          </a:xfrm>
        </p:spPr>
      </p:pic>
    </p:spTree>
    <p:extLst>
      <p:ext uri="{BB962C8B-B14F-4D97-AF65-F5344CB8AC3E}">
        <p14:creationId xmlns:p14="http://schemas.microsoft.com/office/powerpoint/2010/main" val="27168239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17C96-8823-48EE-0276-4E39F815B48F}"/>
              </a:ext>
            </a:extLst>
          </p:cNvPr>
          <p:cNvSpPr>
            <a:spLocks noGrp="1"/>
          </p:cNvSpPr>
          <p:nvPr>
            <p:ph type="title"/>
          </p:nvPr>
        </p:nvSpPr>
        <p:spPr/>
        <p:txBody>
          <a:bodyPr/>
          <a:lstStyle/>
          <a:p>
            <a:endParaRPr lang="en-NP"/>
          </a:p>
        </p:txBody>
      </p:sp>
      <p:pic>
        <p:nvPicPr>
          <p:cNvPr id="5" name="Content Placeholder 4">
            <a:extLst>
              <a:ext uri="{FF2B5EF4-FFF2-40B4-BE49-F238E27FC236}">
                <a16:creationId xmlns:a16="http://schemas.microsoft.com/office/drawing/2014/main" id="{8E87B57A-1984-DC75-DB4C-D13E7B2A7653}"/>
              </a:ext>
            </a:extLst>
          </p:cNvPr>
          <p:cNvPicPr>
            <a:picLocks noGrp="1" noChangeAspect="1"/>
          </p:cNvPicPr>
          <p:nvPr>
            <p:ph idx="1"/>
          </p:nvPr>
        </p:nvPicPr>
        <p:blipFill>
          <a:blip r:embed="rId2"/>
          <a:stretch>
            <a:fillRect/>
          </a:stretch>
        </p:blipFill>
        <p:spPr>
          <a:xfrm>
            <a:off x="0" y="0"/>
            <a:ext cx="12192000" cy="6858000"/>
          </a:xfrm>
        </p:spPr>
      </p:pic>
    </p:spTree>
    <p:extLst>
      <p:ext uri="{BB962C8B-B14F-4D97-AF65-F5344CB8AC3E}">
        <p14:creationId xmlns:p14="http://schemas.microsoft.com/office/powerpoint/2010/main" val="2358777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985BF-15D5-AFD4-F957-998AA7971727}"/>
              </a:ext>
            </a:extLst>
          </p:cNvPr>
          <p:cNvSpPr>
            <a:spLocks noGrp="1"/>
          </p:cNvSpPr>
          <p:nvPr>
            <p:ph type="title"/>
          </p:nvPr>
        </p:nvSpPr>
        <p:spPr/>
        <p:txBody>
          <a:bodyPr/>
          <a:lstStyle/>
          <a:p>
            <a:endParaRPr lang="en-NP"/>
          </a:p>
        </p:txBody>
      </p:sp>
      <p:pic>
        <p:nvPicPr>
          <p:cNvPr id="5" name="Content Placeholder 4">
            <a:extLst>
              <a:ext uri="{FF2B5EF4-FFF2-40B4-BE49-F238E27FC236}">
                <a16:creationId xmlns:a16="http://schemas.microsoft.com/office/drawing/2014/main" id="{52AD5306-A6AB-0C73-CE45-BE53B3312186}"/>
              </a:ext>
            </a:extLst>
          </p:cNvPr>
          <p:cNvPicPr>
            <a:picLocks noGrp="1" noChangeAspect="1"/>
          </p:cNvPicPr>
          <p:nvPr>
            <p:ph idx="1"/>
          </p:nvPr>
        </p:nvPicPr>
        <p:blipFill>
          <a:blip r:embed="rId2"/>
          <a:stretch>
            <a:fillRect/>
          </a:stretch>
        </p:blipFill>
        <p:spPr>
          <a:xfrm>
            <a:off x="1" y="0"/>
            <a:ext cx="12192000" cy="6837608"/>
          </a:xfrm>
        </p:spPr>
      </p:pic>
    </p:spTree>
    <p:extLst>
      <p:ext uri="{BB962C8B-B14F-4D97-AF65-F5344CB8AC3E}">
        <p14:creationId xmlns:p14="http://schemas.microsoft.com/office/powerpoint/2010/main" val="25653015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{B8D4729F-E5E9-C34E-9015-82B04916468D}tf16401378</Template>
  <TotalTime>333</TotalTime>
  <Words>1056</Words>
  <Application>Microsoft Office PowerPoint</Application>
  <PresentationFormat>Widescreen</PresentationFormat>
  <Paragraphs>40</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MS Shell Dlg 2</vt:lpstr>
      <vt:lpstr>Times New Roman</vt:lpstr>
      <vt:lpstr>Verdana</vt:lpstr>
      <vt:lpstr>Wingdings</vt:lpstr>
      <vt:lpstr>Wingdings 3</vt:lpstr>
      <vt:lpstr>Madison</vt:lpstr>
      <vt:lpstr>Register Windowing and Renaming</vt:lpstr>
      <vt:lpstr>Register Windowing and Renaming</vt:lpstr>
      <vt:lpstr>Register Windows</vt:lpstr>
      <vt:lpstr>Register Window</vt:lpstr>
      <vt:lpstr> </vt:lpstr>
      <vt:lpstr>Register Window</vt:lpstr>
      <vt:lpstr>Register Window</vt:lpstr>
      <vt:lpstr>Register Window Example</vt:lpstr>
      <vt:lpstr>PowerPoint Presentation</vt:lpstr>
      <vt:lpstr>Register Windows</vt:lpstr>
      <vt:lpstr>Register Renaming</vt:lpstr>
      <vt:lpstr>Register Renaming</vt:lpstr>
      <vt:lpstr>Practical Perspective</vt:lpstr>
      <vt:lpstr>Circular buffer organization of overlapped windows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Register Windowing and Renaming</dc:title>
  <dc:creator>Ath</dc:creator>
  <cp:lastModifiedBy>Anil Thapa</cp:lastModifiedBy>
  <cp:revision>3</cp:revision>
  <dcterms:created xsi:type="dcterms:W3CDTF">2024-01-04T15:36:42Z</dcterms:created>
  <dcterms:modified xsi:type="dcterms:W3CDTF">2026-07-23T02:40:37Z</dcterms:modified>
</cp:coreProperties>
</file>