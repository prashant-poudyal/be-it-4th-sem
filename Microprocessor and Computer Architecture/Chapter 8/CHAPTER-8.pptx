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68" r:id="rId2"/>
    <p:sldId id="269" r:id="rId3"/>
    <p:sldId id="270" r:id="rId4"/>
    <p:sldId id="271" r:id="rId5"/>
    <p:sldId id="272" r:id="rId6"/>
    <p:sldId id="273" r:id="rId7"/>
    <p:sldId id="274" r:id="rId8"/>
    <p:sldId id="275" r:id="rId9"/>
    <p:sldId id="276" r:id="rId10"/>
    <p:sldId id="277" r:id="rId11"/>
    <p:sldId id="278" r:id="rId12"/>
    <p:sldId id="279" r:id="rId13"/>
    <p:sldId id="280" r:id="rId14"/>
    <p:sldId id="281" r:id="rId15"/>
    <p:sldId id="282" r:id="rId16"/>
    <p:sldId id="283" r:id="rId17"/>
    <p:sldId id="287" r:id="rId18"/>
    <p:sldId id="288"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p:scale>
          <a:sx n="125" d="100"/>
          <a:sy n="125" d="100"/>
        </p:scale>
        <p:origin x="-1950" y="-15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8/1/2024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8/1/2024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8/1/2024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8/1/2024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8/1/2024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8/1/2024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8/1/2024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8/1/2024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8/1/2024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8/1/2024</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interrupt:</a:t>
            </a:r>
          </a:p>
        </p:txBody>
      </p:sp>
      <p:sp>
        <p:nvSpPr>
          <p:cNvPr id="3" name="Content Placeholder 2"/>
          <p:cNvSpPr>
            <a:spLocks noGrp="1"/>
          </p:cNvSpPr>
          <p:nvPr>
            <p:ph idx="1"/>
          </p:nvPr>
        </p:nvSpPr>
        <p:spPr/>
        <p:txBody>
          <a:bodyPr>
            <a:normAutofit fontScale="92500" lnSpcReduction="20000"/>
          </a:bodyPr>
          <a:lstStyle/>
          <a:p>
            <a:pPr marL="0" indent="0">
              <a:buNone/>
            </a:pPr>
            <a:r>
              <a:rPr lang="en-US" b="1" dirty="0">
                <a:latin typeface="Times New Roman" panose="02020603050405020304" pitchFamily="18" charset="0"/>
                <a:cs typeface="Times New Roman" panose="02020603050405020304" pitchFamily="18" charset="0"/>
              </a:rPr>
              <a:t>1.	External Interrupt:</a:t>
            </a:r>
          </a:p>
          <a:p>
            <a:r>
              <a:rPr lang="en-US" dirty="0">
                <a:latin typeface="Times New Roman" panose="02020603050405020304" pitchFamily="18" charset="0"/>
                <a:cs typeface="Times New Roman" panose="02020603050405020304" pitchFamily="18" charset="0"/>
              </a:rPr>
              <a:t>Used by CPU to interact with I/O device.</a:t>
            </a:r>
          </a:p>
          <a:p>
            <a:r>
              <a:rPr lang="en-US" dirty="0">
                <a:latin typeface="Times New Roman" panose="02020603050405020304" pitchFamily="18" charset="0"/>
                <a:cs typeface="Times New Roman" panose="02020603050405020304" pitchFamily="18" charset="0"/>
              </a:rPr>
              <a:t>This improves system performance by allowing the CPU to execute instructions, instead of just waiting for the I/O device, while still performing the required data transfers.</a:t>
            </a:r>
          </a:p>
          <a:p>
            <a:pPr>
              <a:buAutoNum type="arabicPeriod" startAt="2"/>
            </a:pPr>
            <a:r>
              <a:rPr lang="en-US" b="1" dirty="0">
                <a:latin typeface="Times New Roman" panose="02020603050405020304" pitchFamily="18" charset="0"/>
                <a:cs typeface="Times New Roman" panose="02020603050405020304" pitchFamily="18" charset="0"/>
              </a:rPr>
              <a:t>Internal Interrupt:</a:t>
            </a:r>
          </a:p>
          <a:p>
            <a:r>
              <a:rPr lang="en-US" dirty="0">
                <a:latin typeface="Times New Roman" panose="02020603050405020304" pitchFamily="18" charset="0"/>
                <a:cs typeface="Times New Roman" panose="02020603050405020304" pitchFamily="18" charset="0"/>
              </a:rPr>
              <a:t>Occurs entirely within CPU, I/O devices play no role in these interrupts.</a:t>
            </a:r>
          </a:p>
          <a:p>
            <a:r>
              <a:rPr lang="en-US" dirty="0">
                <a:latin typeface="Times New Roman" panose="02020603050405020304" pitchFamily="18" charset="0"/>
                <a:cs typeface="Times New Roman" panose="02020603050405020304" pitchFamily="18" charset="0"/>
              </a:rPr>
              <a:t>For example, a timer built into the CPU may generate an interrupt at a pre-determined interval.</a:t>
            </a:r>
          </a:p>
          <a:p>
            <a:pPr>
              <a:buAutoNum type="arabicPeriod" startAt="3"/>
            </a:pPr>
            <a:r>
              <a:rPr lang="en-US" b="1" dirty="0">
                <a:latin typeface="Times New Roman" panose="02020603050405020304" pitchFamily="18" charset="0"/>
                <a:cs typeface="Times New Roman" panose="02020603050405020304" pitchFamily="18" charset="0"/>
              </a:rPr>
              <a:t>Software Interrupt:</a:t>
            </a:r>
          </a:p>
          <a:p>
            <a:r>
              <a:rPr lang="en-US" dirty="0">
                <a:latin typeface="Times New Roman" panose="02020603050405020304" pitchFamily="18" charset="0"/>
                <a:cs typeface="Times New Roman" panose="02020603050405020304" pitchFamily="18" charset="0"/>
              </a:rPr>
              <a:t>Generated by the program itself.</a:t>
            </a:r>
          </a:p>
          <a:p>
            <a:r>
              <a:rPr lang="en-US" dirty="0">
                <a:latin typeface="Times New Roman" panose="02020603050405020304" pitchFamily="18" charset="0"/>
                <a:cs typeface="Times New Roman" panose="02020603050405020304" pitchFamily="18" charset="0"/>
              </a:rPr>
              <a:t>It itself is like a subroutine. </a:t>
            </a:r>
            <a:r>
              <a:rPr lang="en-US" dirty="0" err="1">
                <a:latin typeface="Times New Roman" panose="02020603050405020304" pitchFamily="18" charset="0"/>
                <a:cs typeface="Times New Roman" panose="02020603050405020304" pitchFamily="18" charset="0"/>
              </a:rPr>
              <a:t>Eg</a:t>
            </a:r>
            <a:r>
              <a:rPr lang="en-US" dirty="0">
                <a:latin typeface="Times New Roman" panose="02020603050405020304" pitchFamily="18" charset="0"/>
                <a:cs typeface="Times New Roman" panose="02020603050405020304" pitchFamily="18" charset="0"/>
              </a:rPr>
              <a:t>: HLT</a:t>
            </a:r>
          </a:p>
          <a:p>
            <a:r>
              <a:rPr lang="en-US" dirty="0">
                <a:latin typeface="Times New Roman" panose="02020603050405020304" pitchFamily="18" charset="0"/>
                <a:cs typeface="Times New Roman" panose="02020603050405020304" pitchFamily="18" charset="0"/>
              </a:rPr>
              <a:t>When we give HLT, it calls a predefined subroutine for it, which stops the program we are using.</a:t>
            </a:r>
          </a:p>
        </p:txBody>
      </p:sp>
    </p:spTree>
    <p:extLst>
      <p:ext uri="{BB962C8B-B14F-4D97-AF65-F5344CB8AC3E}">
        <p14:creationId xmlns:p14="http://schemas.microsoft.com/office/powerpoint/2010/main" val="1202111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86863" y="58513"/>
            <a:ext cx="8911687" cy="572552"/>
          </a:xfrm>
        </p:spPr>
        <p:txBody>
          <a:bodyPr>
            <a:normAutofit fontScale="90000"/>
          </a:bodyPr>
          <a:lstStyle/>
          <a:p>
            <a:r>
              <a:rPr lang="en-US" dirty="0"/>
              <a:t>.</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81269" y="58513"/>
            <a:ext cx="6967470" cy="6799487"/>
          </a:xfrm>
        </p:spPr>
      </p:pic>
    </p:spTree>
    <p:extLst>
      <p:ext uri="{BB962C8B-B14F-4D97-AF65-F5344CB8AC3E}">
        <p14:creationId xmlns:p14="http://schemas.microsoft.com/office/powerpoint/2010/main" val="15803012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Interrupt hardware and priority</a:t>
            </a:r>
            <a:br>
              <a:rPr lang="en-US" dirty="0"/>
            </a:br>
            <a:r>
              <a:rPr lang="en-US" b="1" dirty="0"/>
              <a:t>Vectored Interrupt</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32035" y="1724697"/>
            <a:ext cx="5304382" cy="3778250"/>
          </a:xfrm>
        </p:spPr>
      </p:pic>
      <p:sp>
        <p:nvSpPr>
          <p:cNvPr id="5" name="TextBox 4"/>
          <p:cNvSpPr txBox="1"/>
          <p:nvPr/>
        </p:nvSpPr>
        <p:spPr>
          <a:xfrm>
            <a:off x="2039446" y="5502947"/>
            <a:ext cx="10018643" cy="1477328"/>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CPU knows the address of ISR in advance.</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All it needs is that interrupting device sends its unique vector via a data bus and through its I/O interface to the CPU.</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CPU takes this vector, checks an interrupt table in memory and then carries correct ISR for the device.</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927087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895597"/>
          </a:xfrm>
        </p:spPr>
        <p:txBody>
          <a:bodyPr/>
          <a:lstStyle/>
          <a:p>
            <a:r>
              <a:rPr lang="en-US" b="1" dirty="0"/>
              <a:t>Non-vectored interrupt</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48340" y="1244957"/>
            <a:ext cx="4660761" cy="3778250"/>
          </a:xfrm>
        </p:spPr>
      </p:pic>
      <p:sp>
        <p:nvSpPr>
          <p:cNvPr id="5" name="TextBox 4"/>
          <p:cNvSpPr txBox="1"/>
          <p:nvPr/>
        </p:nvSpPr>
        <p:spPr>
          <a:xfrm>
            <a:off x="2936382" y="5306096"/>
            <a:ext cx="9092485" cy="1200329"/>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Interrupting device never sends an interrupt vector.</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CPU receives the interrupt, and it jumps the program counter to a fixed address in hardware.</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CPU crucially does not know which device caused the interrupt without polling each I/O interface in a loop and checking status register of each I/O interface.</a:t>
            </a:r>
          </a:p>
        </p:txBody>
      </p:sp>
    </p:spTree>
    <p:extLst>
      <p:ext uri="{BB962C8B-B14F-4D97-AF65-F5344CB8AC3E}">
        <p14:creationId xmlns:p14="http://schemas.microsoft.com/office/powerpoint/2010/main" val="4399394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Prioritizing multiple interrupts:</a:t>
            </a:r>
            <a:br>
              <a:rPr lang="en-US" dirty="0"/>
            </a:br>
            <a:r>
              <a:rPr lang="en-US" b="1" dirty="0"/>
              <a:t>Extension of non-vectored Interrupt</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59808" y="1904999"/>
            <a:ext cx="5066005" cy="4212465"/>
          </a:xfrm>
        </p:spPr>
      </p:pic>
    </p:spTree>
    <p:extLst>
      <p:ext uri="{BB962C8B-B14F-4D97-AF65-F5344CB8AC3E}">
        <p14:creationId xmlns:p14="http://schemas.microsoft.com/office/powerpoint/2010/main" val="40886664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Contd</a:t>
            </a:r>
            <a:r>
              <a:rPr lang="en-US" dirty="0"/>
              <a:t>…</a:t>
            </a: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IRQ</a:t>
            </a:r>
            <a:r>
              <a:rPr lang="en-US" baseline="-25000" dirty="0">
                <a:latin typeface="Times New Roman" panose="02020603050405020304" pitchFamily="18" charset="0"/>
                <a:cs typeface="Times New Roman" panose="02020603050405020304" pitchFamily="18" charset="0"/>
              </a:rPr>
              <a:t>n</a:t>
            </a:r>
            <a:r>
              <a:rPr lang="en-US" dirty="0">
                <a:latin typeface="Times New Roman" panose="02020603050405020304" pitchFamily="18" charset="0"/>
                <a:cs typeface="Times New Roman" panose="02020603050405020304" pitchFamily="18" charset="0"/>
              </a:rPr>
              <a:t> has the highest priority and IRQ</a:t>
            </a:r>
            <a:r>
              <a:rPr lang="en-US" baseline="-25000" dirty="0">
                <a:latin typeface="Times New Roman" panose="02020603050405020304" pitchFamily="18" charset="0"/>
                <a:cs typeface="Times New Roman" panose="02020603050405020304" pitchFamily="18" charset="0"/>
              </a:rPr>
              <a:t>0</a:t>
            </a:r>
            <a:r>
              <a:rPr lang="en-US" dirty="0">
                <a:latin typeface="Times New Roman" panose="02020603050405020304" pitchFamily="18" charset="0"/>
                <a:cs typeface="Times New Roman" panose="02020603050405020304" pitchFamily="18" charset="0"/>
              </a:rPr>
              <a:t> has the lowest.</a:t>
            </a:r>
          </a:p>
          <a:p>
            <a:r>
              <a:rPr lang="en-US" dirty="0">
                <a:latin typeface="Times New Roman" panose="02020603050405020304" pitchFamily="18" charset="0"/>
                <a:cs typeface="Times New Roman" panose="02020603050405020304" pitchFamily="18" charset="0"/>
              </a:rPr>
              <a:t>If more than one device requests an interrupt, the CPU acknowledges and serves the interrupt with the highest priority first.</a:t>
            </a:r>
          </a:p>
          <a:p>
            <a:r>
              <a:rPr lang="en-US" dirty="0">
                <a:latin typeface="Times New Roman" panose="02020603050405020304" pitchFamily="18" charset="0"/>
                <a:cs typeface="Times New Roman" panose="02020603050405020304" pitchFamily="18" charset="0"/>
              </a:rPr>
              <a:t>This method works well when there are only a few IRQ/ACK pairs.</a:t>
            </a:r>
          </a:p>
          <a:p>
            <a:r>
              <a:rPr lang="en-US" dirty="0">
                <a:latin typeface="Times New Roman" panose="02020603050405020304" pitchFamily="18" charset="0"/>
                <a:cs typeface="Times New Roman" panose="02020603050405020304" pitchFamily="18" charset="0"/>
              </a:rPr>
              <a:t>As the number of interrupt increases, the number of pins needed by the CPU to accommodate these signals become prohibitive.</a:t>
            </a:r>
          </a:p>
        </p:txBody>
      </p:sp>
    </p:spTree>
    <p:extLst>
      <p:ext uri="{BB962C8B-B14F-4D97-AF65-F5344CB8AC3E}">
        <p14:creationId xmlns:p14="http://schemas.microsoft.com/office/powerpoint/2010/main" val="3331125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Daisy Chaining</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81082" y="1721475"/>
            <a:ext cx="4893972" cy="4421747"/>
          </a:xfrm>
        </p:spPr>
      </p:pic>
    </p:spTree>
    <p:extLst>
      <p:ext uri="{BB962C8B-B14F-4D97-AF65-F5344CB8AC3E}">
        <p14:creationId xmlns:p14="http://schemas.microsoft.com/office/powerpoint/2010/main" val="18046705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83400" y="624110"/>
            <a:ext cx="8911687" cy="1280890"/>
          </a:xfrm>
        </p:spPr>
        <p:txBody>
          <a:bodyPr/>
          <a:lstStyle/>
          <a:p>
            <a:r>
              <a:rPr lang="en-US" dirty="0" err="1"/>
              <a:t>Contd</a:t>
            </a:r>
            <a:r>
              <a:rPr lang="en-US" dirty="0"/>
              <a:t>…</a:t>
            </a:r>
          </a:p>
        </p:txBody>
      </p:sp>
      <p:sp>
        <p:nvSpPr>
          <p:cNvPr id="3" name="Content Placeholder 2"/>
          <p:cNvSpPr>
            <a:spLocks noGrp="1"/>
          </p:cNvSpPr>
          <p:nvPr>
            <p:ph idx="1"/>
          </p:nvPr>
        </p:nvSpPr>
        <p:spPr>
          <a:xfrm>
            <a:off x="2589212" y="2133600"/>
            <a:ext cx="8915400" cy="4724400"/>
          </a:xfrm>
        </p:spPr>
        <p:txBody>
          <a:bodyPr>
            <a:noAutofit/>
          </a:bodyPr>
          <a:lstStyle/>
          <a:p>
            <a:r>
              <a:rPr lang="en-US" dirty="0">
                <a:latin typeface="Times New Roman" panose="02020603050405020304" pitchFamily="18" charset="0"/>
                <a:cs typeface="Times New Roman" panose="02020603050405020304" pitchFamily="18" charset="0"/>
              </a:rPr>
              <a:t>The interrupt request signals from the devices are ORed together.</a:t>
            </a:r>
          </a:p>
          <a:p>
            <a:r>
              <a:rPr lang="en-US" dirty="0">
                <a:latin typeface="Times New Roman" panose="02020603050405020304" pitchFamily="18" charset="0"/>
                <a:cs typeface="Times New Roman" panose="02020603050405020304" pitchFamily="18" charset="0"/>
              </a:rPr>
              <a:t>When the CPU receives an active IRQ input, it doesn’t know which device generated the interrupt request.</a:t>
            </a:r>
          </a:p>
          <a:p>
            <a:r>
              <a:rPr lang="en-US" dirty="0">
                <a:latin typeface="Times New Roman" panose="02020603050405020304" pitchFamily="18" charset="0"/>
                <a:cs typeface="Times New Roman" panose="02020603050405020304" pitchFamily="18" charset="0"/>
              </a:rPr>
              <a:t>It sends out an acknowledgement signal and leaves it to the devices to work among themselves.</a:t>
            </a:r>
          </a:p>
          <a:p>
            <a:r>
              <a:rPr lang="en-US" dirty="0">
                <a:latin typeface="Times New Roman" panose="02020603050405020304" pitchFamily="18" charset="0"/>
                <a:cs typeface="Times New Roman" panose="02020603050405020304" pitchFamily="18" charset="0"/>
              </a:rPr>
              <a:t>Device #n receives the IACK signal directly from the CPU.</a:t>
            </a:r>
          </a:p>
          <a:p>
            <a:r>
              <a:rPr lang="en-US" dirty="0">
                <a:latin typeface="Times New Roman" panose="02020603050405020304" pitchFamily="18" charset="0"/>
                <a:cs typeface="Times New Roman" panose="02020603050405020304" pitchFamily="18" charset="0"/>
              </a:rPr>
              <a:t>If IACK is asserted, usually 1, this device has requested an interrupt; it sets its IACK</a:t>
            </a:r>
            <a:r>
              <a:rPr lang="en-US" baseline="-25000" dirty="0">
                <a:latin typeface="Times New Roman" panose="02020603050405020304" pitchFamily="18" charset="0"/>
                <a:cs typeface="Times New Roman" panose="02020603050405020304" pitchFamily="18" charset="0"/>
              </a:rPr>
              <a:t>out</a:t>
            </a:r>
            <a:r>
              <a:rPr lang="en-US" dirty="0">
                <a:latin typeface="Times New Roman" panose="02020603050405020304" pitchFamily="18" charset="0"/>
                <a:cs typeface="Times New Roman" panose="02020603050405020304" pitchFamily="18" charset="0"/>
              </a:rPr>
              <a:t> signal to 0 and places its vector on the data bus.</a:t>
            </a:r>
          </a:p>
          <a:p>
            <a:r>
              <a:rPr lang="en-US" dirty="0">
                <a:latin typeface="Times New Roman" panose="02020603050405020304" pitchFamily="18" charset="0"/>
                <a:cs typeface="Times New Roman" panose="02020603050405020304" pitchFamily="18" charset="0"/>
              </a:rPr>
              <a:t>If this device did not request the interrupt, it sets its IACK</a:t>
            </a:r>
            <a:r>
              <a:rPr lang="en-US" baseline="-25000" dirty="0">
                <a:latin typeface="Times New Roman" panose="02020603050405020304" pitchFamily="18" charset="0"/>
                <a:cs typeface="Times New Roman" panose="02020603050405020304" pitchFamily="18" charset="0"/>
              </a:rPr>
              <a:t>out</a:t>
            </a:r>
            <a:r>
              <a:rPr lang="en-US" dirty="0">
                <a:latin typeface="Times New Roman" panose="02020603050405020304" pitchFamily="18" charset="0"/>
                <a:cs typeface="Times New Roman" panose="02020603050405020304" pitchFamily="18" charset="0"/>
              </a:rPr>
              <a:t> signal to 1, thus passing it to device n-1 and so on until the IACK is asserted</a:t>
            </a:r>
          </a:p>
          <a:p>
            <a:r>
              <a:rPr lang="en-US" dirty="0">
                <a:latin typeface="Times New Roman" panose="02020603050405020304" pitchFamily="18" charset="0"/>
                <a:cs typeface="Times New Roman" panose="02020603050405020304" pitchFamily="18" charset="0"/>
              </a:rPr>
              <a:t>Straightforward and easy to implemented.</a:t>
            </a:r>
          </a:p>
          <a:p>
            <a:r>
              <a:rPr lang="en-US" dirty="0">
                <a:latin typeface="Times New Roman" panose="02020603050405020304" pitchFamily="18" charset="0"/>
                <a:cs typeface="Times New Roman" panose="02020603050405020304" pitchFamily="18" charset="0"/>
              </a:rPr>
              <a:t>The configuration is sequential, and thus can introduce hardware delays, if the chain is too long.</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190636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Implementing priority interrupts in parallel</a:t>
            </a: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Implemented using priority encoder.</a:t>
            </a:r>
          </a:p>
          <a:p>
            <a:r>
              <a:rPr lang="en-US" dirty="0">
                <a:latin typeface="Times New Roman" panose="02020603050405020304" pitchFamily="18" charset="0"/>
                <a:cs typeface="Times New Roman" panose="02020603050405020304" pitchFamily="18" charset="0"/>
              </a:rPr>
              <a:t>Output of this encoder is the value of the highest priority device requesting an interrupt.</a:t>
            </a:r>
          </a:p>
          <a:p>
            <a:r>
              <a:rPr lang="en-US" dirty="0">
                <a:latin typeface="Times New Roman" panose="02020603050405020304" pitchFamily="18" charset="0"/>
                <a:cs typeface="Times New Roman" panose="02020603050405020304" pitchFamily="18" charset="0"/>
              </a:rPr>
              <a:t>Priority of the device doesn’t determine the time needed to acknowledge the interrupt.</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22217" y="3324454"/>
            <a:ext cx="6501332" cy="3573887"/>
          </a:xfrm>
          <a:prstGeom prst="rect">
            <a:avLst/>
          </a:prstGeom>
        </p:spPr>
      </p:pic>
    </p:spTree>
    <p:extLst>
      <p:ext uri="{BB962C8B-B14F-4D97-AF65-F5344CB8AC3E}">
        <p14:creationId xmlns:p14="http://schemas.microsoft.com/office/powerpoint/2010/main" val="7169311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741051"/>
          </a:xfrm>
        </p:spPr>
        <p:txBody>
          <a:bodyPr/>
          <a:lstStyle/>
          <a:p>
            <a:r>
              <a:rPr lang="en-US" dirty="0"/>
              <a:t>Direct Memory Access(DMA)</a:t>
            </a:r>
          </a:p>
        </p:txBody>
      </p:sp>
      <p:sp>
        <p:nvSpPr>
          <p:cNvPr id="3" name="Content Placeholder 2"/>
          <p:cNvSpPr>
            <a:spLocks noGrp="1"/>
          </p:cNvSpPr>
          <p:nvPr>
            <p:ph idx="1"/>
          </p:nvPr>
        </p:nvSpPr>
        <p:spPr>
          <a:xfrm>
            <a:off x="2589212" y="1365161"/>
            <a:ext cx="8915400" cy="4546061"/>
          </a:xfrm>
        </p:spPr>
        <p:txBody>
          <a:bodyPr/>
          <a:lstStyle/>
          <a:p>
            <a:r>
              <a:rPr lang="en-US" dirty="0">
                <a:latin typeface="Times New Roman" panose="02020603050405020304" pitchFamily="18" charset="0"/>
                <a:cs typeface="Times New Roman" panose="02020603050405020304" pitchFamily="18" charset="0"/>
              </a:rPr>
              <a:t>Involves an additional module on the system bus capable of mimicking the processor and taking control of system from processor to transfer data to and fro from memory over the bus.</a:t>
            </a:r>
          </a:p>
          <a:p>
            <a:r>
              <a:rPr lang="en-US" dirty="0">
                <a:latin typeface="Times New Roman" panose="02020603050405020304" pitchFamily="18" charset="0"/>
                <a:cs typeface="Times New Roman" panose="02020603050405020304" pitchFamily="18" charset="0"/>
              </a:rPr>
              <a:t>DMA module must use bus only when processor does not need it, or must force the processor to suspend operation temporarily.</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89211" y="3079952"/>
            <a:ext cx="3171023" cy="3572321"/>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72766" y="3318110"/>
            <a:ext cx="6269887" cy="2992538"/>
          </a:xfrm>
          <a:prstGeom prst="rect">
            <a:avLst/>
          </a:prstGeom>
        </p:spPr>
      </p:pic>
    </p:spTree>
    <p:extLst>
      <p:ext uri="{BB962C8B-B14F-4D97-AF65-F5344CB8AC3E}">
        <p14:creationId xmlns:p14="http://schemas.microsoft.com/office/powerpoint/2010/main" val="10648857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Incorporating DMA into a computer system</a:t>
            </a:r>
          </a:p>
        </p:txBody>
      </p:sp>
      <p:sp>
        <p:nvSpPr>
          <p:cNvPr id="3" name="Content Placeholder 2"/>
          <p:cNvSpPr>
            <a:spLocks noGrp="1"/>
          </p:cNvSpPr>
          <p:nvPr>
            <p:ph idx="1"/>
          </p:nvPr>
        </p:nvSpPr>
        <p:spPr>
          <a:xfrm>
            <a:off x="2589212" y="1493949"/>
            <a:ext cx="8915400" cy="5364051"/>
          </a:xfrm>
        </p:spPr>
        <p:txBody>
          <a:bodyPr/>
          <a:lstStyle/>
          <a:p>
            <a:r>
              <a:rPr lang="en-US" dirty="0">
                <a:latin typeface="Times New Roman" panose="02020603050405020304" pitchFamily="18" charset="0"/>
                <a:cs typeface="Times New Roman" panose="02020603050405020304" pitchFamily="18" charset="0"/>
              </a:rPr>
              <a:t>A DMA controller implements direct memory access in the computer.</a:t>
            </a:r>
          </a:p>
          <a:p>
            <a:r>
              <a:rPr lang="en-US" dirty="0">
                <a:latin typeface="Times New Roman" panose="02020603050405020304" pitchFamily="18" charset="0"/>
                <a:cs typeface="Times New Roman" panose="02020603050405020304" pitchFamily="18" charset="0"/>
              </a:rPr>
              <a:t>Connects directly to I/O devices to one end and to the system bus at other end.</a:t>
            </a:r>
          </a:p>
          <a:p>
            <a:r>
              <a:rPr lang="en-US" dirty="0">
                <a:latin typeface="Times New Roman" panose="02020603050405020304" pitchFamily="18" charset="0"/>
                <a:cs typeface="Times New Roman" panose="02020603050405020304" pitchFamily="18" charset="0"/>
              </a:rPr>
              <a:t>Also interacts with CPU.</a:t>
            </a:r>
          </a:p>
          <a:p>
            <a:r>
              <a:rPr lang="en-US" dirty="0">
                <a:latin typeface="Times New Roman" panose="02020603050405020304" pitchFamily="18" charset="0"/>
                <a:cs typeface="Times New Roman" panose="02020603050405020304" pitchFamily="18" charset="0"/>
              </a:rPr>
              <a:t>To transfer data from an I/O device to memory, DMA controller first sends a bus request to the CPU by setting BR to 1.</a:t>
            </a:r>
          </a:p>
          <a:p>
            <a:r>
              <a:rPr lang="en-US" dirty="0">
                <a:latin typeface="Times New Roman" panose="02020603050405020304" pitchFamily="18" charset="0"/>
                <a:cs typeface="Times New Roman" panose="02020603050405020304" pitchFamily="18" charset="0"/>
              </a:rPr>
              <a:t>When CPU is ready to grant the request, CPU sets its bus grant signal, BG to 1.</a:t>
            </a:r>
          </a:p>
          <a:p>
            <a:r>
              <a:rPr lang="en-US" dirty="0">
                <a:latin typeface="Times New Roman" panose="02020603050405020304" pitchFamily="18" charset="0"/>
                <a:cs typeface="Times New Roman" panose="02020603050405020304" pitchFamily="18" charset="0"/>
              </a:rPr>
              <a:t>DMA controller, now, has control of the system bus.</a:t>
            </a:r>
          </a:p>
          <a:p>
            <a:r>
              <a:rPr lang="en-US" dirty="0">
                <a:latin typeface="Times New Roman" panose="02020603050405020304" pitchFamily="18" charset="0"/>
                <a:cs typeface="Times New Roman" panose="02020603050405020304" pitchFamily="18" charset="0"/>
              </a:rPr>
              <a:t>To load data from I/O device into memory, it asserts the appropriate I/O control signals and load data from I/O device into its internal DMA register.</a:t>
            </a:r>
          </a:p>
          <a:p>
            <a:r>
              <a:rPr lang="en-US" dirty="0">
                <a:latin typeface="Times New Roman" panose="02020603050405020304" pitchFamily="18" charset="0"/>
                <a:cs typeface="Times New Roman" panose="02020603050405020304" pitchFamily="18" charset="0"/>
              </a:rPr>
              <a:t>DMA controller also asserts appropriate signals on the system’s control bus to cause memory to read the data.</a:t>
            </a:r>
          </a:p>
          <a:p>
            <a:r>
              <a:rPr lang="en-US" dirty="0">
                <a:latin typeface="Times New Roman" panose="02020603050405020304" pitchFamily="18" charset="0"/>
                <a:cs typeface="Times New Roman" panose="02020603050405020304" pitchFamily="18" charset="0"/>
              </a:rPr>
              <a:t>Once this is done, DMA controller no longer needs to use the System buses.</a:t>
            </a:r>
          </a:p>
          <a:p>
            <a:r>
              <a:rPr lang="en-US" dirty="0">
                <a:latin typeface="Times New Roman" panose="02020603050405020304" pitchFamily="18" charset="0"/>
                <a:cs typeface="Times New Roman" panose="02020603050405020304" pitchFamily="18" charset="0"/>
              </a:rPr>
              <a:t>It relinquishes its request by setting BR to 0.</a:t>
            </a:r>
          </a:p>
          <a:p>
            <a:r>
              <a:rPr lang="en-US" dirty="0">
                <a:latin typeface="Times New Roman" panose="02020603050405020304" pitchFamily="18" charset="0"/>
                <a:cs typeface="Times New Roman" panose="02020603050405020304" pitchFamily="18" charset="0"/>
              </a:rPr>
              <a:t>CPU, then sets BG to 0; resumes its normal operation.</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238432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650898"/>
          </a:xfrm>
        </p:spPr>
        <p:txBody>
          <a:bodyPr/>
          <a:lstStyle/>
          <a:p>
            <a:r>
              <a:rPr lang="en-US" dirty="0"/>
              <a:t>DMA Transfer modes:</a:t>
            </a:r>
          </a:p>
        </p:txBody>
      </p:sp>
      <p:sp>
        <p:nvSpPr>
          <p:cNvPr id="3" name="Content Placeholder 2"/>
          <p:cNvSpPr>
            <a:spLocks noGrp="1"/>
          </p:cNvSpPr>
          <p:nvPr>
            <p:ph idx="1"/>
          </p:nvPr>
        </p:nvSpPr>
        <p:spPr>
          <a:xfrm>
            <a:off x="2408908" y="1828800"/>
            <a:ext cx="8915400" cy="4636214"/>
          </a:xfrm>
        </p:spPr>
        <p:txBody>
          <a:bodyPr/>
          <a:lstStyle/>
          <a:p>
            <a:r>
              <a:rPr lang="en-US" b="1" dirty="0">
                <a:latin typeface="Times New Roman" panose="02020603050405020304" pitchFamily="18" charset="0"/>
                <a:cs typeface="Times New Roman" panose="02020603050405020304" pitchFamily="18" charset="0"/>
              </a:rPr>
              <a:t>Burst mode/Block Transfer mode:</a:t>
            </a: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=&gt;</a:t>
            </a:r>
            <a:r>
              <a:rPr lang="en-US" dirty="0">
                <a:latin typeface="Times New Roman" panose="02020603050405020304" pitchFamily="18" charset="0"/>
                <a:cs typeface="Times New Roman" panose="02020603050405020304" pitchFamily="18" charset="0"/>
              </a:rPr>
              <a:t>Entire block of data is transferred in one contiguous sequence.</a:t>
            </a: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=&gt;</a:t>
            </a:r>
            <a:r>
              <a:rPr lang="en-US" dirty="0">
                <a:latin typeface="Times New Roman" panose="02020603050405020304" pitchFamily="18" charset="0"/>
                <a:cs typeface="Times New Roman" panose="02020603050405020304" pitchFamily="18" charset="0"/>
              </a:rPr>
              <a:t>Once the DMA controller is granted access to the system buses by the CPU, it transfer all bytes of data in the data block before relinquishing control of system bus back to CPU.</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=&gt;Useful for loading programs or data files into memory but it does render the CPU inactive for relatively long periods of time.</a:t>
            </a:r>
          </a:p>
          <a:p>
            <a:r>
              <a:rPr lang="en-US" b="1" dirty="0">
                <a:latin typeface="Times New Roman" panose="02020603050405020304" pitchFamily="18" charset="0"/>
                <a:cs typeface="Times New Roman" panose="02020603050405020304" pitchFamily="18" charset="0"/>
              </a:rPr>
              <a:t>Cycle Stealing Mode:</a:t>
            </a: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=&gt;</a:t>
            </a:r>
            <a:r>
              <a:rPr lang="en-US" dirty="0">
                <a:latin typeface="Times New Roman" panose="02020603050405020304" pitchFamily="18" charset="0"/>
                <a:cs typeface="Times New Roman" panose="02020603050405020304" pitchFamily="18" charset="0"/>
              </a:rPr>
              <a:t>CPU is not disabled for longer period of time like that in burst mode.</a:t>
            </a:r>
            <a:br>
              <a:rPr lang="en-US" b="1"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=&gt;DMA controller obtains access to the system bus as in burst mode. However, it transfers one byte of data and then deasserts BR, returning control of the system buses back to CPU.</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=&gt;The process goes on until the entire block of data is transferred.</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=&gt;Data block is not transferred as quickly as in burst mode, but the CPU is not idled for as long as in burst mode.</a:t>
            </a:r>
          </a:p>
        </p:txBody>
      </p:sp>
    </p:spTree>
    <p:extLst>
      <p:ext uri="{BB962C8B-B14F-4D97-AF65-F5344CB8AC3E}">
        <p14:creationId xmlns:p14="http://schemas.microsoft.com/office/powerpoint/2010/main" val="20191349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Contd</a:t>
            </a:r>
            <a:r>
              <a:rPr lang="en-US" dirty="0"/>
              <a:t>…</a:t>
            </a:r>
          </a:p>
        </p:txBody>
      </p:sp>
      <p:sp>
        <p:nvSpPr>
          <p:cNvPr id="3" name="Content Placeholder 2"/>
          <p:cNvSpPr>
            <a:spLocks noGrp="1"/>
          </p:cNvSpPr>
          <p:nvPr>
            <p:ph idx="1"/>
          </p:nvPr>
        </p:nvSpPr>
        <p:spPr/>
        <p:txBody>
          <a:bodyPr/>
          <a:lstStyle/>
          <a:p>
            <a:r>
              <a:rPr lang="en-US" b="1" dirty="0">
                <a:latin typeface="Times New Roman" panose="02020603050405020304" pitchFamily="18" charset="0"/>
                <a:cs typeface="Times New Roman" panose="02020603050405020304" pitchFamily="18" charset="0"/>
              </a:rPr>
              <a:t>Transparent mode:</a:t>
            </a:r>
            <a:br>
              <a:rPr lang="en-US" b="1"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=&gt;DMA controller only transfers data when the CPU is performing operations that do not make use of system bus.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=&gt;Primary advantage is that CPU never stops executing its programs.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=&gt;The hardware needed to determine when the CPU is not using the system buses can be quite complex and relatively expensive.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=&gt;This mode is generally not used.</a:t>
            </a:r>
          </a:p>
        </p:txBody>
      </p:sp>
    </p:spTree>
    <p:extLst>
      <p:ext uri="{BB962C8B-B14F-4D97-AF65-F5344CB8AC3E}">
        <p14:creationId xmlns:p14="http://schemas.microsoft.com/office/powerpoint/2010/main" val="8509998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I/O processors:</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23504" y="1790164"/>
            <a:ext cx="6871755" cy="4456090"/>
          </a:xfrm>
        </p:spPr>
      </p:pic>
      <p:sp>
        <p:nvSpPr>
          <p:cNvPr id="5" name="TextBox 4"/>
          <p:cNvSpPr txBox="1"/>
          <p:nvPr/>
        </p:nvSpPr>
        <p:spPr>
          <a:xfrm>
            <a:off x="2884868" y="6246254"/>
            <a:ext cx="6795450" cy="369332"/>
          </a:xfrm>
          <a:prstGeom prst="rect">
            <a:avLst/>
          </a:prstGeom>
          <a:noFill/>
        </p:spPr>
        <p:txBody>
          <a:bodyPr wrap="none" rtlCol="0">
            <a:spAutoFit/>
          </a:bodyPr>
          <a:lstStyle/>
          <a:p>
            <a:r>
              <a:rPr lang="en-US" dirty="0"/>
              <a:t>Figure: system configuration incorporating an I/O processor</a:t>
            </a:r>
          </a:p>
        </p:txBody>
      </p:sp>
    </p:spTree>
    <p:extLst>
      <p:ext uri="{BB962C8B-B14F-4D97-AF65-F5344CB8AC3E}">
        <p14:creationId xmlns:p14="http://schemas.microsoft.com/office/powerpoint/2010/main" val="14454521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Contd</a:t>
            </a:r>
            <a:r>
              <a:rPr lang="en-US" dirty="0"/>
              <a:t>…</a:t>
            </a:r>
          </a:p>
        </p:txBody>
      </p:sp>
      <p:sp>
        <p:nvSpPr>
          <p:cNvPr id="3" name="Content Placeholder 2"/>
          <p:cNvSpPr>
            <a:spLocks noGrp="1"/>
          </p:cNvSpPr>
          <p:nvPr>
            <p:ph idx="1"/>
          </p:nvPr>
        </p:nvSpPr>
        <p:spPr>
          <a:xfrm>
            <a:off x="2589212" y="2133599"/>
            <a:ext cx="8915400" cy="4511899"/>
          </a:xfrm>
        </p:spPr>
        <p:txBody>
          <a:bodyPr>
            <a:normAutofit lnSpcReduction="10000"/>
          </a:bodyPr>
          <a:lstStyle/>
          <a:p>
            <a:r>
              <a:rPr lang="en-US" dirty="0">
                <a:latin typeface="Times New Roman" panose="02020603050405020304" pitchFamily="18" charset="0"/>
                <a:cs typeface="Times New Roman" panose="02020603050405020304" pitchFamily="18" charset="0"/>
              </a:rPr>
              <a:t>Are also called I/O controllers, channel controllers or peripheral processing units(PPUs).</a:t>
            </a:r>
          </a:p>
          <a:p>
            <a:r>
              <a:rPr lang="en-US" dirty="0">
                <a:latin typeface="Times New Roman" panose="02020603050405020304" pitchFamily="18" charset="0"/>
                <a:cs typeface="Times New Roman" panose="02020603050405020304" pitchFamily="18" charset="0"/>
              </a:rPr>
              <a:t>I/O processors usually incorporate several DMA controllers within their circuitry.</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DMA controller can improve system performance by speeding up data transfers between memory and I/O devices.</a:t>
            </a:r>
          </a:p>
          <a:p>
            <a:r>
              <a:rPr lang="en-US" dirty="0">
                <a:latin typeface="Times New Roman" panose="02020603050405020304" pitchFamily="18" charset="0"/>
                <a:cs typeface="Times New Roman" panose="02020603050405020304" pitchFamily="18" charset="0"/>
              </a:rPr>
              <a:t>In some cases, data must be manipulated once it is read from the I/O device; the DMA controller can only transfer data.</a:t>
            </a:r>
          </a:p>
          <a:p>
            <a:r>
              <a:rPr lang="en-US" dirty="0">
                <a:latin typeface="Times New Roman" panose="02020603050405020304" pitchFamily="18" charset="0"/>
                <a:cs typeface="Times New Roman" panose="02020603050405020304" pitchFamily="18" charset="0"/>
              </a:rPr>
              <a:t>Unlike DMA controller, the I/O processor connects to more than one I/O device.</a:t>
            </a:r>
          </a:p>
          <a:p>
            <a:r>
              <a:rPr lang="en-US" dirty="0">
                <a:latin typeface="Times New Roman" panose="02020603050405020304" pitchFamily="18" charset="0"/>
                <a:cs typeface="Times New Roman" panose="02020603050405020304" pitchFamily="18" charset="0"/>
              </a:rPr>
              <a:t>The I/O devices are grouped together on an I/O bus.</a:t>
            </a:r>
          </a:p>
          <a:p>
            <a:r>
              <a:rPr lang="en-US" dirty="0">
                <a:latin typeface="Times New Roman" panose="02020603050405020304" pitchFamily="18" charset="0"/>
                <a:cs typeface="Times New Roman" panose="02020603050405020304" pitchFamily="18" charset="0"/>
              </a:rPr>
              <a:t>I/O processor can coordinate transfers from several different I/O devices. The only exception is that the CPU coordinates the transfer of data between itself and I/O processor.</a:t>
            </a:r>
          </a:p>
          <a:p>
            <a:r>
              <a:rPr lang="en-US" dirty="0">
                <a:latin typeface="Times New Roman" panose="02020603050405020304" pitchFamily="18" charset="0"/>
                <a:cs typeface="Times New Roman" panose="02020603050405020304" pitchFamily="18" charset="0"/>
              </a:rPr>
              <a:t>Instead of loading values into registers, as with DMA, the CPU issues a series of I/O instructions to the I/O processor. These instructions are often called commands.</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20585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Contd</a:t>
            </a:r>
            <a:r>
              <a:rPr lang="en-US" dirty="0"/>
              <a:t>…</a:t>
            </a: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The first are the </a:t>
            </a:r>
            <a:r>
              <a:rPr lang="en-US" b="1" dirty="0">
                <a:latin typeface="Times New Roman" panose="02020603050405020304" pitchFamily="18" charset="0"/>
                <a:cs typeface="Times New Roman" panose="02020603050405020304" pitchFamily="18" charset="0"/>
              </a:rPr>
              <a:t>block transfer commands. </a:t>
            </a:r>
            <a:r>
              <a:rPr lang="en-US" dirty="0">
                <a:latin typeface="Times New Roman" panose="02020603050405020304" pitchFamily="18" charset="0"/>
                <a:cs typeface="Times New Roman" panose="02020603050405020304" pitchFamily="18" charset="0"/>
              </a:rPr>
              <a:t>These move block of data and include the necessary parameters.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=&gt;These instructions can be used to swap pages in and out of physical memory, and to load programs from disk to memory.</a:t>
            </a:r>
          </a:p>
          <a:p>
            <a:r>
              <a:rPr lang="en-US" dirty="0">
                <a:latin typeface="Times New Roman" panose="02020603050405020304" pitchFamily="18" charset="0"/>
                <a:cs typeface="Times New Roman" panose="02020603050405020304" pitchFamily="18" charset="0"/>
              </a:rPr>
              <a:t>The second type of command performs </a:t>
            </a:r>
            <a:r>
              <a:rPr lang="en-US" b="1" dirty="0">
                <a:latin typeface="Times New Roman" panose="02020603050405020304" pitchFamily="18" charset="0"/>
                <a:cs typeface="Times New Roman" panose="02020603050405020304" pitchFamily="18" charset="0"/>
              </a:rPr>
              <a:t>arithmetic, logic and branch operations.</a:t>
            </a:r>
            <a:br>
              <a:rPr lang="en-US" b="1"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=&gt; used by the CPU for data manipulation.</a:t>
            </a:r>
          </a:p>
          <a:p>
            <a:r>
              <a:rPr lang="en-US" dirty="0">
                <a:latin typeface="Times New Roman" panose="02020603050405020304" pitchFamily="18" charset="0"/>
                <a:cs typeface="Times New Roman" panose="02020603050405020304" pitchFamily="18" charset="0"/>
              </a:rPr>
              <a:t>The third type of command is </a:t>
            </a:r>
            <a:r>
              <a:rPr lang="en-US" b="1" dirty="0">
                <a:latin typeface="Times New Roman" panose="02020603050405020304" pitchFamily="18" charset="0"/>
                <a:cs typeface="Times New Roman" panose="02020603050405020304" pitchFamily="18" charset="0"/>
              </a:rPr>
              <a:t>control commands.</a:t>
            </a: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=&gt;</a:t>
            </a:r>
            <a:r>
              <a:rPr lang="en-US" dirty="0">
                <a:latin typeface="Times New Roman" panose="02020603050405020304" pitchFamily="18" charset="0"/>
                <a:cs typeface="Times New Roman" panose="02020603050405020304" pitchFamily="18" charset="0"/>
              </a:rPr>
              <a:t>These are usually hardware dependent and critical to the proper functioning of the computer system.</a:t>
            </a: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506529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Universal </a:t>
            </a:r>
            <a:r>
              <a:rPr lang="en-US"/>
              <a:t>Asynchronous Receiver/ Transmitter(UART):</a:t>
            </a:r>
            <a:endParaRPr lang="en-US" dirty="0"/>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For asynchronous serial communication, these specialized chips are called universal asynchronous receiver/transmitter or UARTs.</a:t>
            </a:r>
          </a:p>
          <a:p>
            <a:endParaRPr lang="en-US"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85175" y="2862797"/>
            <a:ext cx="6718679" cy="3396335"/>
          </a:xfrm>
          <a:prstGeom prst="rect">
            <a:avLst/>
          </a:prstGeom>
        </p:spPr>
      </p:pic>
    </p:spTree>
    <p:extLst>
      <p:ext uri="{BB962C8B-B14F-4D97-AF65-F5344CB8AC3E}">
        <p14:creationId xmlns:p14="http://schemas.microsoft.com/office/powerpoint/2010/main" val="20401507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Contd</a:t>
            </a:r>
            <a:r>
              <a:rPr lang="en-US" dirty="0"/>
              <a:t>…</a:t>
            </a:r>
          </a:p>
        </p:txBody>
      </p:sp>
      <p:sp>
        <p:nvSpPr>
          <p:cNvPr id="3" name="Content Placeholder 2"/>
          <p:cNvSpPr>
            <a:spLocks noGrp="1"/>
          </p:cNvSpPr>
          <p:nvPr>
            <p:ph idx="1"/>
          </p:nvPr>
        </p:nvSpPr>
        <p:spPr/>
        <p:txBody>
          <a:bodyPr>
            <a:normAutofit fontScale="92500" lnSpcReduction="20000"/>
          </a:bodyPr>
          <a:lstStyle/>
          <a:p>
            <a:r>
              <a:rPr lang="en-US" dirty="0"/>
              <a:t>CPU sees the UART as just another parallel I/O device and interfaces with it accordingly.</a:t>
            </a:r>
          </a:p>
          <a:p>
            <a:r>
              <a:rPr lang="en-US" dirty="0"/>
              <a:t>UART transmits and receives data serially.</a:t>
            </a:r>
          </a:p>
          <a:p>
            <a:r>
              <a:rPr lang="en-US" dirty="0"/>
              <a:t>Can interact with any device that can access serial data.</a:t>
            </a:r>
          </a:p>
          <a:p>
            <a:r>
              <a:rPr lang="en-US" dirty="0"/>
              <a:t>UART exchanges data with a modem.</a:t>
            </a:r>
          </a:p>
          <a:p>
            <a:r>
              <a:rPr lang="en-US" dirty="0"/>
              <a:t>To transmit data, UART outputs sequential data to the modem, which modulates the data, combining with a carrier frequency and transmitting it.</a:t>
            </a:r>
          </a:p>
          <a:p>
            <a:r>
              <a:rPr lang="en-US" dirty="0"/>
              <a:t>To receive data, the modem accepts a signal at a different carrier frequency and demodulates it, extracts the data, and transmit it serially to the  UART.</a:t>
            </a:r>
          </a:p>
          <a:p>
            <a:r>
              <a:rPr lang="en-US" dirty="0"/>
              <a:t>A typical UART contains registers to hold transmitted and received data, a control register and status register.</a:t>
            </a:r>
          </a:p>
          <a:p>
            <a:r>
              <a:rPr lang="en-US" dirty="0"/>
              <a:t>It contains shift registers, which convert data from parallel to serial(for data transmission) and from serial to parallel(for data reception).</a:t>
            </a:r>
          </a:p>
        </p:txBody>
      </p:sp>
    </p:spTree>
    <p:extLst>
      <p:ext uri="{BB962C8B-B14F-4D97-AF65-F5344CB8AC3E}">
        <p14:creationId xmlns:p14="http://schemas.microsoft.com/office/powerpoint/2010/main" val="3825596336"/>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506</TotalTime>
  <Words>1504</Words>
  <Application>Microsoft Office PowerPoint</Application>
  <PresentationFormat>Widescreen</PresentationFormat>
  <Paragraphs>87</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Century Gothic</vt:lpstr>
      <vt:lpstr>Times New Roman</vt:lpstr>
      <vt:lpstr>Wingdings 3</vt:lpstr>
      <vt:lpstr>Wisp</vt:lpstr>
      <vt:lpstr>Types of interrupt:</vt:lpstr>
      <vt:lpstr>.</vt:lpstr>
      <vt:lpstr>Interrupt hardware and priority Vectored Interrupt</vt:lpstr>
      <vt:lpstr>Non-vectored interrupt</vt:lpstr>
      <vt:lpstr>Prioritizing multiple interrupts: Extension of non-vectored Interrupt</vt:lpstr>
      <vt:lpstr>Contd…</vt:lpstr>
      <vt:lpstr>Daisy Chaining</vt:lpstr>
      <vt:lpstr>Contd…</vt:lpstr>
      <vt:lpstr>Implementing priority interrupts in parallel</vt:lpstr>
      <vt:lpstr>Direct Memory Access(DMA)</vt:lpstr>
      <vt:lpstr>Incorporating DMA into a computer system</vt:lpstr>
      <vt:lpstr>DMA Transfer modes:</vt:lpstr>
      <vt:lpstr>Contd…</vt:lpstr>
      <vt:lpstr>I/O processors:</vt:lpstr>
      <vt:lpstr>Contd…</vt:lpstr>
      <vt:lpstr>Contd…</vt:lpstr>
      <vt:lpstr>Universal Asynchronous Receiver/ Transmitter(UART):</vt:lpstr>
      <vt:lpstr>Contd…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CHAPTER-8</dc:title>
  <dc:creator>Bishal Trital</dc:creator>
  <cp:lastModifiedBy>Anil Thapa</cp:lastModifiedBy>
  <cp:revision>80</cp:revision>
  <dcterms:created xsi:type="dcterms:W3CDTF">2018-01-09T08:24:31Z</dcterms:created>
  <dcterms:modified xsi:type="dcterms:W3CDTF">2024-08-01T02:33:38Z</dcterms:modified>
</cp:coreProperties>
</file>